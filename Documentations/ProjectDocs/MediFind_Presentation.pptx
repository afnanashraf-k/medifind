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3108960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94960" y="320040"/>
            <a:ext cx="1371600" cy="914400"/>
          </a:xfrm>
          <a:prstGeom prst="rect">
            <a:avLst/>
          </a:prstGeom>
          <a:solidFill>
            <a:srgbClr val="2D7FF9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94960" y="384048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258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MediFind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317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B0C4DE"/>
                </a:solidFill>
                <a:latin typeface="Calibri"/>
              </a:rPr>
              <a:t>A Hyperlocal Medicine Availability Finder &amp; Digital Prescription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3063240"/>
            <a:ext cx="7589520" cy="2377440"/>
          </a:xfrm>
          <a:prstGeom prst="rect">
            <a:avLst/>
          </a:prstGeom>
          <a:solidFill>
            <a:srgbClr val="0D1F3C"/>
          </a:solidFill>
          <a:ln w="1905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68880" y="3154680"/>
            <a:ext cx="7223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AFNAN ASHRAF 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99360" y="3566160"/>
            <a:ext cx="7223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93C5FD"/>
                </a:solidFill>
                <a:latin typeface="Calibri"/>
              </a:rPr>
              <a:t>KTU Reg. No: KITM25MCA-2004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721608"/>
            <a:ext cx="7223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68880" y="4005072"/>
            <a:ext cx="7223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Calibri"/>
              </a:rPr>
              <a:t>Department of Computer Applications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4288536"/>
            <a:ext cx="7223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Calibri"/>
              </a:rPr>
              <a:t>KMCT Institute of Technology and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4572000"/>
            <a:ext cx="7223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  <a:latin typeface="Calibri"/>
              </a:rPr>
              <a:t>Kuttippuram, Malappuram, Kerala – 679571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855464"/>
            <a:ext cx="7223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68880" y="5138928"/>
            <a:ext cx="7223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  <a:latin typeface="Calibri"/>
              </a:rPr>
              <a:t>Guide: Asst. Prof. Mydhili Manoj   |   HOD: Asst. Prof. Jaseedha P 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5669280"/>
            <a:ext cx="3017520" cy="384048"/>
          </a:xfrm>
          <a:prstGeom prst="rect">
            <a:avLst/>
          </a:prstGeom>
          <a:solidFill>
            <a:srgbClr val="173A7A"/>
          </a:solidFill>
          <a:ln w="1270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63040" y="568756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3C5FD"/>
                </a:solidFill>
                <a:latin typeface="Calibri"/>
              </a:rPr>
              <a:t>🎓  MCA – Code: 20MCA245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5669280"/>
            <a:ext cx="3017520" cy="384048"/>
          </a:xfrm>
          <a:prstGeom prst="rect">
            <a:avLst/>
          </a:prstGeom>
          <a:solidFill>
            <a:srgbClr val="173A7A"/>
          </a:solidFill>
          <a:ln w="1270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568756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3C5FD"/>
                </a:solidFill>
                <a:latin typeface="Calibri"/>
              </a:rPr>
              <a:t>📅  Academic Year 2025–2027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5669280"/>
            <a:ext cx="3017520" cy="384048"/>
          </a:xfrm>
          <a:prstGeom prst="rect">
            <a:avLst/>
          </a:prstGeom>
          <a:solidFill>
            <a:srgbClr val="173A7A"/>
          </a:solidFill>
          <a:ln w="1270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0" y="568756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3C5FD"/>
                </a:solidFill>
                <a:latin typeface="Calibri"/>
              </a:rPr>
              <a:t>🗓️  October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A5FA"/>
                </a:solidFill>
                <a:latin typeface="Calibri"/>
              </a:rPr>
              <a:t>🏥  MediFind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6080"/>
                </a:solidFill>
                <a:latin typeface="Calibri"/>
              </a:rPr>
              <a:t>01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2194560" cy="292608"/>
          </a:xfrm>
          <a:prstGeom prst="rect">
            <a:avLst/>
          </a:prstGeom>
          <a:solidFill>
            <a:srgbClr val="173A7A"/>
          </a:solidFill>
          <a:ln w="1270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899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3C5FD"/>
                </a:solidFill>
                <a:latin typeface="Calibri"/>
              </a:rPr>
              <a:t>📖 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is MediFind?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914400" cy="50800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1115568"/>
            <a:ext cx="27432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A5FA"/>
                </a:solidFill>
                <a:latin typeface="Calibri"/>
              </a:rPr>
              <a:t>🏥  MediFind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6080"/>
                </a:solidFill>
                <a:latin typeface="Calibri"/>
              </a:rPr>
              <a:t>02 /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3474720" cy="2057400"/>
          </a:xfrm>
          <a:prstGeom prst="rect">
            <a:avLst/>
          </a:prstGeom>
          <a:solidFill>
            <a:srgbClr val="14243C"/>
          </a:solidFill>
          <a:ln w="1524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45389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7FF9"/>
                </a:solidFill>
                <a:latin typeface="Calibri"/>
              </a:rPr>
              <a:t>🌐  Domain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7393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Healthcare Technology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02082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Hyperlocal pharmacy directory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26771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Connects patients with live medicine stock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1325880"/>
            <a:ext cx="3474720" cy="2057400"/>
          </a:xfrm>
          <a:prstGeom prst="rect">
            <a:avLst/>
          </a:prstGeom>
          <a:solidFill>
            <a:srgbClr val="14243C"/>
          </a:solidFill>
          <a:ln w="1524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51960" y="145389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7FF9"/>
                </a:solidFill>
                <a:latin typeface="Calibri"/>
              </a:rPr>
              <a:t>💡  Core Idea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177393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Search medicine by brand / generic 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02082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See nearby pharmacy stock in real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267712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B0C4DE"/>
                </a:solidFill>
                <a:latin typeface="Calibri"/>
              </a:rPr>
              <a:t>  •  Reserve online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1325880"/>
            <a:ext cx="3474720" cy="2057400"/>
          </a:xfrm>
          <a:prstGeom prst="rect">
            <a:avLst/>
          </a:prstGeom>
          <a:solidFill>
            <a:srgbClr val="14243C"/>
          </a:solidFill>
          <a:ln w="1524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01000" y="145389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7FF9"/>
                </a:solidFill>
                <a:latin typeface="Calibri"/>
              </a:rPr>
              <a:t>📍  Where Used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0" y="177393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Perinthalmanna &amp; Valanchery, Malappuram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202082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Hospital city of Kerala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0" y="226771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Scalable to entire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520440"/>
            <a:ext cx="3474720" cy="2057400"/>
          </a:xfrm>
          <a:prstGeom prst="rect">
            <a:avLst/>
          </a:prstGeom>
          <a:solidFill>
            <a:srgbClr val="14243C"/>
          </a:solidFill>
          <a:ln w="1524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364845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7FF9"/>
                </a:solidFill>
                <a:latin typeface="Calibri"/>
              </a:rPr>
              <a:t>🔑  Key Actors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96849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Patients – Search, reserve, upload Rx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21538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Pharmacy Owners – Manage inventory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3520440"/>
            <a:ext cx="3474720" cy="2057400"/>
          </a:xfrm>
          <a:prstGeom prst="rect">
            <a:avLst/>
          </a:prstGeom>
          <a:solidFill>
            <a:srgbClr val="14243C"/>
          </a:solidFill>
          <a:ln w="1524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51960" y="364845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7FF9"/>
                </a:solidFill>
                <a:latin typeface="Calibri"/>
              </a:rPr>
              <a:t>🚀  Why It Matters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396849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Emergency search: hours → 30 seconds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421538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Live stock = no wasted trips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446227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Free for local pharmacies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41110" y="4431274"/>
            <a:ext cx="310601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B0C4DE"/>
                </a:solidFill>
                <a:latin typeface="Calibri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2194560" cy="292608"/>
          </a:xfrm>
          <a:prstGeom prst="rect">
            <a:avLst/>
          </a:prstGeom>
          <a:solidFill>
            <a:srgbClr val="173A7A"/>
          </a:solidFill>
          <a:ln w="1270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899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3C5FD"/>
                </a:solidFill>
                <a:latin typeface="Calibri"/>
              </a:rPr>
              <a:t>🎯 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Project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914400" cy="50800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1115568"/>
            <a:ext cx="27432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A5FA"/>
                </a:solidFill>
                <a:latin typeface="Calibri"/>
              </a:rPr>
              <a:t>🏥  MediFind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6080"/>
                </a:solidFill>
                <a:latin typeface="Calibri"/>
              </a:rPr>
              <a:t>03 /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594360" cy="457200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33096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2801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Real-Time Medicine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55448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Full-text search across brand names (Dolo 650, Augmentin) and generic names (Paracetamol, Amoxicillin) across all registered pharmacies simultaneously.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267712"/>
            <a:ext cx="594360" cy="457200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231851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26771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GPS-Based Proximity Sorting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542032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Compute real-time straight-line distances using the Haversine spherical formula and sort pharmacies by closest proximity automatically.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255264"/>
            <a:ext cx="594360" cy="457200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3306064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25526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Online Medicine Reservation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52958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Allow patients to reserve specific medicine quantities from pharmacies, preventing stock exhaustion before they physically travel to the store.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242816"/>
            <a:ext cx="594360" cy="457200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4293616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242816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Calibri"/>
              </a:rPr>
              <a:t>Digital Prescription Upload &amp; Verification</a:t>
            </a:r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  (future updates)</a:t>
            </a:r>
            <a:endParaRPr sz="1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51560" y="451713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Enable patients to attach doctor prescriptions (PDF/PNG/JPG) to reservations; pharmacy owners verify via high-resolution modal before dispensing.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230368"/>
            <a:ext cx="594360" cy="457200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5281168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230368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Calibri"/>
              </a:rPr>
              <a:t>Automated Inventory Control via DB Triggers</a:t>
            </a:r>
            <a:r>
              <a:rPr lang="en-US" sz="1400" b="1" dirty="0">
                <a:solidFill>
                  <a:srgbClr val="FFFFFF"/>
                </a:solidFill>
                <a:latin typeface="Calibri"/>
              </a:rPr>
              <a:t> (future updates)</a:t>
            </a:r>
            <a:endParaRPr sz="1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51560" y="550468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B0C4DE"/>
                </a:solidFill>
                <a:latin typeface="Calibri"/>
              </a:rPr>
              <a:t>PostgreSQL trigger-based automatic stock decrement when an order is marked Collected, ensuring accuracy without manual intervention.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2194560" cy="292608"/>
          </a:xfrm>
          <a:prstGeom prst="rect">
            <a:avLst/>
          </a:prstGeom>
          <a:solidFill>
            <a:srgbClr val="173A7A"/>
          </a:solidFill>
          <a:ln w="1270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899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3C5FD"/>
                </a:solidFill>
                <a:latin typeface="Calibri"/>
              </a:rPr>
              <a:t>⚠️ 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Problem We Are Solving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914400" cy="50800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1115568"/>
            <a:ext cx="27432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A5FA"/>
                </a:solidFill>
                <a:latin typeface="Calibri"/>
              </a:rPr>
              <a:t>🏥  MediFind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6080"/>
                </a:solidFill>
                <a:latin typeface="Calibri"/>
              </a:rPr>
              <a:t>04 /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5577840" cy="2560320"/>
          </a:xfrm>
          <a:prstGeom prst="rect">
            <a:avLst/>
          </a:prstGeom>
          <a:solidFill>
            <a:srgbClr val="14243C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40817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❌  Existing Problems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2821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Time-Wasting Physical Visits: Multiple shops during emergencies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95681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B0C4DE"/>
                </a:solidFill>
                <a:latin typeface="Calibri"/>
              </a:rPr>
              <a:t>  •  Prescription Rejection at Counter: Issues found only in queue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185291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No Digital Tools for Chemists: No way to announce live stock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977639"/>
            <a:ext cx="5577840" cy="1828800"/>
          </a:xfrm>
          <a:prstGeom prst="rect">
            <a:avLst/>
          </a:prstGeom>
          <a:solidFill>
            <a:srgbClr val="14243C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4105655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👥  Who Faces This?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425695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Patients &amp; caregivers in Perinthalmanna &amp; Valanchery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672583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Semi-urban towns in Malappuram, Kerala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19471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Especially during acute medical emergencies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280160"/>
            <a:ext cx="5669280" cy="2743200"/>
          </a:xfrm>
          <a:prstGeom prst="rect">
            <a:avLst/>
          </a:prstGeom>
          <a:solidFill>
            <a:srgbClr val="14243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63640" y="140817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✅  How MediFind Solves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72821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Instant Search: One query replaces hours of calls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97510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Live Stock Status: Pharmacists update in real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2219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Online Reservation: Store holds stock before you travel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4688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B0C4DE"/>
                </a:solidFill>
                <a:latin typeface="Calibri"/>
              </a:rPr>
              <a:t>  •  Digital Prescription: Upload &amp; verify before counter visit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7157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Free for Pharmacies: Zero commission, zero barrier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4160520"/>
            <a:ext cx="5669280" cy="1645920"/>
          </a:xfrm>
          <a:prstGeom prst="rect">
            <a:avLst/>
          </a:prstGeom>
          <a:solidFill>
            <a:srgbClr val="0D2850"/>
          </a:solidFill>
          <a:ln w="1524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63640" y="4251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7FF9"/>
                </a:solidFill>
                <a:latin typeface="Calibri"/>
              </a:rPr>
              <a:t>Key Insight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52628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Traditional apps focus on warehouse-to-doorstep delivery.
MediFind focuses on hyperlocal counter-pickup within minutes — a completely different use case ignored by existing solutions.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2194560" cy="292608"/>
          </a:xfrm>
          <a:prstGeom prst="rect">
            <a:avLst/>
          </a:prstGeom>
          <a:solidFill>
            <a:srgbClr val="173A7A"/>
          </a:solidFill>
          <a:ln w="1270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899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3C5FD"/>
                </a:solidFill>
                <a:latin typeface="Calibri"/>
              </a:rPr>
              <a:t>🗺️ 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Scope of the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914400" cy="50800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1115568"/>
            <a:ext cx="27432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A5FA"/>
                </a:solidFill>
                <a:latin typeface="Calibri"/>
              </a:rPr>
              <a:t>🏥  MediFind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6080"/>
                </a:solidFill>
                <a:latin typeface="Calibri"/>
              </a:rPr>
              <a:t>05 /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5577840" cy="1737360"/>
          </a:xfrm>
          <a:prstGeom prst="rect">
            <a:avLst/>
          </a:prstGeom>
          <a:solidFill>
            <a:srgbClr val="14243C"/>
          </a:solidFill>
          <a:ln w="1524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40817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7FF9"/>
                </a:solidFill>
                <a:latin typeface="Calibri"/>
              </a:rPr>
              <a:t>👤  Intended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2821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Patients and caregivers seeking medicines urgently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97510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Local pharmacy owners and staff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22199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Platform administrators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154680"/>
            <a:ext cx="5577840" cy="2697480"/>
          </a:xfrm>
          <a:prstGeom prst="rect">
            <a:avLst/>
          </a:prstGeom>
          <a:solidFill>
            <a:srgbClr val="14243C"/>
          </a:solidFill>
          <a:ln w="1524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328269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7FF9"/>
                </a:solidFill>
                <a:latin typeface="Calibri"/>
              </a:rPr>
              <a:t>⚙️  Major Features Covered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60273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Full-text medicine search (brand + generic)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496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Haversine GPS proximity sorting + Map pins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09651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Online medicine reservation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34340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Digital prescription upload (PDF/PNG/JPG)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9028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Pharmacy inventory CRUD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3717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Real-time PostgreSQL change replication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8406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Role-based authentication (User/Pharmacy/Admin)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280160"/>
            <a:ext cx="5669280" cy="1737360"/>
          </a:xfrm>
          <a:prstGeom prst="rect">
            <a:avLst/>
          </a:prstGeom>
          <a:solidFill>
            <a:srgbClr val="14243C"/>
          </a:solidFill>
          <a:ln w="1524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63640" y="140817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7FF9"/>
                </a:solidFill>
                <a:latin typeface="Calibri"/>
              </a:rPr>
              <a:t>📍  Application Areas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172821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Perinthalmanna – hospital city of Malappuram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97510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Valanchery, Kuttippuram, Kottakkal, Tirur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2219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Expandable to any municipality statewide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3154680"/>
            <a:ext cx="5669280" cy="2697480"/>
          </a:xfrm>
          <a:prstGeom prst="rect">
            <a:avLst/>
          </a:prstGeom>
          <a:solidFill>
            <a:srgbClr val="14243C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63640" y="328269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❌  Outside Current Scope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60273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Home delivery / courier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84962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Online payment gateway (Razorpay/UPI)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09651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AI-based medicine recommendations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3434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WhatsApp / SMS automated notifications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459028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Full Admin dashboard UI (planned for v2)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2194560" cy="292608"/>
          </a:xfrm>
          <a:prstGeom prst="rect">
            <a:avLst/>
          </a:prstGeom>
          <a:solidFill>
            <a:srgbClr val="173A7A"/>
          </a:solidFill>
          <a:ln w="1270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899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3C5FD"/>
                </a:solidFill>
                <a:latin typeface="Calibri"/>
              </a:rPr>
              <a:t>🛠️  Technologies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Tech Stack &amp;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914400" cy="50800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1115568"/>
            <a:ext cx="27432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A5FA"/>
                </a:solidFill>
                <a:latin typeface="Calibri"/>
              </a:rPr>
              <a:t>🏥  MediFind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6080"/>
                </a:solidFill>
                <a:latin typeface="Calibri"/>
              </a:rPr>
              <a:t>06 /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3566160" cy="1234440"/>
          </a:xfrm>
          <a:prstGeom prst="rect">
            <a:avLst/>
          </a:prstGeom>
          <a:solidFill>
            <a:srgbClr val="14243C"/>
          </a:solidFill>
          <a:ln w="1270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13898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⚛️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3898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Next.js 14 (App Router)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1755648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SSR + React Server Components for fast page loads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1280160"/>
            <a:ext cx="3566160" cy="1234440"/>
          </a:xfrm>
          <a:prstGeom prst="rect">
            <a:avLst/>
          </a:prstGeom>
          <a:solidFill>
            <a:srgbClr val="14243C"/>
          </a:solidFill>
          <a:ln w="1270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70248" y="13898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3898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React 18 + TypeScript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248" y="1755648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Type-safe component-based UI architecture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1280160"/>
            <a:ext cx="3566160" cy="1234440"/>
          </a:xfrm>
          <a:prstGeom prst="rect">
            <a:avLst/>
          </a:prstGeom>
          <a:solidFill>
            <a:srgbClr val="14243C"/>
          </a:solidFill>
          <a:ln w="1270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65007" y="13898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39" y="13898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Tailwind CSS 3.4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7" y="1755648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Utility-first rapid UI styling framework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651760"/>
            <a:ext cx="3566160" cy="1234440"/>
          </a:xfrm>
          <a:prstGeom prst="rect">
            <a:avLst/>
          </a:prstGeom>
          <a:solidFill>
            <a:srgbClr val="14243C"/>
          </a:solidFill>
          <a:ln w="1270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" y="27614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🗄️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27614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Supabase (PostgreSQL 15)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3127248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Cloud RDBMS with RLS, Auth &amp; Realtime built-in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20" y="2651760"/>
            <a:ext cx="3566160" cy="1234440"/>
          </a:xfrm>
          <a:prstGeom prst="rect">
            <a:avLst/>
          </a:prstGeom>
          <a:solidFill>
            <a:srgbClr val="14243C"/>
          </a:solidFill>
          <a:ln w="1270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70248" y="27614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27614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Supabase Auth (SSR)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0248" y="3127248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Cookie-based role authentication (user/pharmacy/admin)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79" y="2651760"/>
            <a:ext cx="3566160" cy="1234440"/>
          </a:xfrm>
          <a:prstGeom prst="rect">
            <a:avLst/>
          </a:prstGeom>
          <a:solidFill>
            <a:srgbClr val="14243C"/>
          </a:solidFill>
          <a:ln w="1270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65007" y="27614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39" y="27614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Supabase Storage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65007" y="3127248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Prescription file bucket (PDF, PNG, JPG support)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023360"/>
            <a:ext cx="3566160" cy="1234440"/>
          </a:xfrm>
          <a:prstGeom prst="rect">
            <a:avLst/>
          </a:prstGeom>
          <a:solidFill>
            <a:srgbClr val="14243C"/>
          </a:solidFill>
          <a:ln w="1270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5488" y="4133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41330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Haversine Formula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" y="4498848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Lightweight GPS distance calc — no Maps API billing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60520" y="4023360"/>
            <a:ext cx="3566160" cy="1234440"/>
          </a:xfrm>
          <a:prstGeom prst="rect">
            <a:avLst/>
          </a:prstGeom>
          <a:solidFill>
            <a:srgbClr val="14243C"/>
          </a:solidFill>
          <a:ln w="1270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270248" y="4133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41330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PostgreSQL Triggers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70248" y="4498848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Auto stock decrement on reservation collection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79" y="4023360"/>
            <a:ext cx="3566160" cy="1234440"/>
          </a:xfrm>
          <a:prstGeom prst="rect">
            <a:avLst/>
          </a:prstGeom>
          <a:solidFill>
            <a:srgbClr val="14243C"/>
          </a:solidFill>
          <a:ln w="1270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065007" y="4133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49639" y="41330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Vercel + GitHub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65007" y="4498848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Serverless hosting, CI/CD, edge CDN deployments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394960"/>
            <a:ext cx="11430000" cy="868680"/>
          </a:xfrm>
          <a:prstGeom prst="rect">
            <a:avLst/>
          </a:prstGeom>
          <a:solidFill>
            <a:srgbClr val="0D1F3C"/>
          </a:solidFill>
          <a:ln w="1270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Hardware:  Client — Any modern browser + GPS (Chrome/Firefox/Safari/Edge)   |   Dev — Node.js v18/20 LTS, Windows/macOS/Linux   |   Server — Supabase Cloud (no dedicated server needed)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2194560" cy="292608"/>
          </a:xfrm>
          <a:prstGeom prst="rect">
            <a:avLst/>
          </a:prstGeom>
          <a:solidFill>
            <a:srgbClr val="173A7A"/>
          </a:solidFill>
          <a:ln w="1270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899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3C5FD"/>
                </a:solidFill>
                <a:latin typeface="Calibri"/>
              </a:rPr>
              <a:t>📊  Data Flow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DFD — Level 0 &amp; Level 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914400" cy="50800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1115568"/>
            <a:ext cx="27432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A5FA"/>
                </a:solidFill>
                <a:latin typeface="Calibri"/>
              </a:rPr>
              <a:t>🏥  MediFind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6080"/>
                </a:solidFill>
                <a:latin typeface="Calibri"/>
              </a:rPr>
              <a:t>07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2344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7FF9"/>
                </a:solidFill>
                <a:latin typeface="Calibri"/>
              </a:rPr>
              <a:t>Level 0 — Context 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08760"/>
            <a:ext cx="5120640" cy="5074920"/>
          </a:xfrm>
          <a:prstGeom prst="rect">
            <a:avLst/>
          </a:prstGeom>
          <a:solidFill>
            <a:srgbClr val="0D1830"/>
          </a:solidFill>
          <a:ln w="1270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1691640"/>
            <a:ext cx="1097280" cy="457200"/>
          </a:xfrm>
          <a:prstGeom prst="rect">
            <a:avLst/>
          </a:prstGeom>
          <a:solidFill>
            <a:srgbClr val="1A3A5C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709928"/>
            <a:ext cx="1097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CD34D"/>
                </a:solidFill>
                <a:latin typeface="Calibri"/>
              </a:rPr>
              <a:t>👤 Patient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1691640"/>
            <a:ext cx="1097280" cy="457200"/>
          </a:xfrm>
          <a:prstGeom prst="rect">
            <a:avLst/>
          </a:prstGeom>
          <a:solidFill>
            <a:srgbClr val="1A3A5C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828800" y="1709928"/>
            <a:ext cx="1097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CD34D"/>
                </a:solidFill>
                <a:latin typeface="Calibri"/>
              </a:rPr>
              <a:t>🏪 Pharmacy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1691640"/>
            <a:ext cx="1097280" cy="457200"/>
          </a:xfrm>
          <a:prstGeom prst="rect">
            <a:avLst/>
          </a:prstGeom>
          <a:solidFill>
            <a:srgbClr val="1A3A5C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08960" y="1709928"/>
            <a:ext cx="1097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CD34D"/>
                </a:solidFill>
                <a:latin typeface="Calibri"/>
              </a:rPr>
              <a:t>👑 Admin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0C4DE"/>
                </a:solidFill>
                <a:latin typeface="Calibri"/>
              </a:rPr>
              <a:t>↓ ↓ 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514600"/>
            <a:ext cx="4206240" cy="594360"/>
          </a:xfrm>
          <a:prstGeom prst="rect">
            <a:avLst/>
          </a:prstGeom>
          <a:solidFill>
            <a:srgbClr val="0D407C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2542032"/>
            <a:ext cx="4206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🏥  MediFind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15468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0C4DE"/>
                </a:solidFill>
                <a:latin typeface="Calibri"/>
              </a:rPr>
              <a:t>↓ ↓ ↓ 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493008"/>
            <a:ext cx="1097280" cy="384048"/>
          </a:xfrm>
          <a:prstGeom prst="rect">
            <a:avLst/>
          </a:prstGeom>
          <a:solidFill>
            <a:srgbClr val="062E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3520440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EE7B7"/>
                </a:solidFill>
                <a:latin typeface="Calibri"/>
              </a:rPr>
              <a:t>D1: Profiles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83080" y="3493008"/>
            <a:ext cx="1097280" cy="384048"/>
          </a:xfrm>
          <a:prstGeom prst="rect">
            <a:avLst/>
          </a:prstGeom>
          <a:solidFill>
            <a:srgbClr val="062E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783080" y="3520440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EE7B7"/>
                </a:solidFill>
                <a:latin typeface="Calibri"/>
              </a:rPr>
              <a:t>D2: Medicines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977639"/>
            <a:ext cx="1097280" cy="384048"/>
          </a:xfrm>
          <a:prstGeom prst="rect">
            <a:avLst/>
          </a:prstGeom>
          <a:solidFill>
            <a:srgbClr val="062E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4005072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EE7B7"/>
                </a:solidFill>
                <a:latin typeface="Calibri"/>
              </a:rPr>
              <a:t>D3: Stock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83080" y="3977639"/>
            <a:ext cx="1097280" cy="384048"/>
          </a:xfrm>
          <a:prstGeom prst="rect">
            <a:avLst/>
          </a:prstGeom>
          <a:solidFill>
            <a:srgbClr val="062E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783080" y="4005072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EE7B7"/>
                </a:solidFill>
                <a:latin typeface="Calibri"/>
              </a:rPr>
              <a:t>D4: Reservations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1234440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7FF9"/>
                </a:solidFill>
                <a:latin typeface="Calibri"/>
              </a:rPr>
              <a:t>Level 1 — Main Processes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0" y="1508760"/>
            <a:ext cx="6126480" cy="5074920"/>
          </a:xfrm>
          <a:prstGeom prst="rect">
            <a:avLst/>
          </a:prstGeom>
          <a:solidFill>
            <a:srgbClr val="0D1830"/>
          </a:solidFill>
          <a:ln w="1270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760720" y="1600200"/>
            <a:ext cx="9144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760720" y="1651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CD34D"/>
                </a:solidFill>
                <a:latin typeface="Calibri"/>
              </a:rPr>
              <a:t>Patient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676400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95160" y="1600200"/>
            <a:ext cx="3291840" cy="347472"/>
          </a:xfrm>
          <a:prstGeom prst="rect">
            <a:avLst/>
          </a:prstGeom>
          <a:solidFill>
            <a:srgbClr val="0D407C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22592" y="165100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P1: Search &amp; Filter Medicines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14432" y="1676400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561320" y="1600200"/>
            <a:ext cx="1143000" cy="347472"/>
          </a:xfrm>
          <a:prstGeom prst="rect">
            <a:avLst/>
          </a:prstGeom>
          <a:solidFill>
            <a:srgbClr val="062E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561320" y="165100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EE7B7"/>
                </a:solidFill>
                <a:latin typeface="Calibri"/>
              </a:rPr>
              <a:t>D3: Stock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60720" y="2377440"/>
            <a:ext cx="9144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760720" y="2428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CD34D"/>
                </a:solidFill>
                <a:latin typeface="Calibri"/>
              </a:rPr>
              <a:t>Patient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2453640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95160" y="2377440"/>
            <a:ext cx="3291840" cy="347472"/>
          </a:xfrm>
          <a:prstGeom prst="rect">
            <a:avLst/>
          </a:prstGeom>
          <a:solidFill>
            <a:srgbClr val="0D407C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22592" y="242824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P2: Reserve + Upload Prescription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14432" y="2453640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561320" y="2377440"/>
            <a:ext cx="1143000" cy="347472"/>
          </a:xfrm>
          <a:prstGeom prst="rect">
            <a:avLst/>
          </a:prstGeom>
          <a:solidFill>
            <a:srgbClr val="062E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561320" y="242824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EE7B7"/>
                </a:solidFill>
                <a:latin typeface="Calibri"/>
              </a:rPr>
              <a:t>D4: Reservations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60720" y="3154680"/>
            <a:ext cx="9144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760720" y="3205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CD34D"/>
                </a:solidFill>
                <a:latin typeface="Calibri"/>
              </a:rPr>
              <a:t>Pharmacy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3230880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→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95160" y="3154680"/>
            <a:ext cx="3291840" cy="347472"/>
          </a:xfrm>
          <a:prstGeom prst="rect">
            <a:avLst/>
          </a:prstGeom>
          <a:solidFill>
            <a:srgbClr val="0D407C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022592" y="320548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P3: Manage Inventory CRUD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14432" y="3230880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561320" y="3154680"/>
            <a:ext cx="1143000" cy="347472"/>
          </a:xfrm>
          <a:prstGeom prst="rect">
            <a:avLst/>
          </a:prstGeom>
          <a:solidFill>
            <a:srgbClr val="062E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561320" y="320548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EE7B7"/>
                </a:solidFill>
                <a:latin typeface="Calibri"/>
              </a:rPr>
              <a:t>D3: Stock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760720" y="3931920"/>
            <a:ext cx="9144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760720" y="3982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CD34D"/>
                </a:solidFill>
                <a:latin typeface="Calibri"/>
              </a:rPr>
              <a:t>Pharmacy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20840" y="4008120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→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95160" y="3931920"/>
            <a:ext cx="3291840" cy="347472"/>
          </a:xfrm>
          <a:prstGeom prst="rect">
            <a:avLst/>
          </a:prstGeom>
          <a:solidFill>
            <a:srgbClr val="0D407C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022592" y="398272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P4: Verify Rx &amp; Fulfil Order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14432" y="4008120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→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561320" y="3931920"/>
            <a:ext cx="1143000" cy="347472"/>
          </a:xfrm>
          <a:prstGeom prst="rect">
            <a:avLst/>
          </a:prstGeom>
          <a:solidFill>
            <a:srgbClr val="062E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561320" y="398272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EE7B7"/>
                </a:solidFill>
                <a:latin typeface="Calibri"/>
              </a:rPr>
              <a:t>D4: Reservations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760720" y="4709160"/>
            <a:ext cx="9144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760720" y="4759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CD34D"/>
                </a:solidFill>
                <a:latin typeface="Calibri"/>
              </a:rPr>
              <a:t>System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20840" y="4785360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→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995160" y="4709160"/>
            <a:ext cx="3291840" cy="347472"/>
          </a:xfrm>
          <a:prstGeom prst="rect">
            <a:avLst/>
          </a:prstGeom>
          <a:solidFill>
            <a:srgbClr val="0D407C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022592" y="475996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P5: Auth &amp; Route Guard (RBAC)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14432" y="4785360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→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561320" y="4709160"/>
            <a:ext cx="1143000" cy="347472"/>
          </a:xfrm>
          <a:prstGeom prst="rect">
            <a:avLst/>
          </a:prstGeom>
          <a:solidFill>
            <a:srgbClr val="062E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0561320" y="475996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EE7B7"/>
                </a:solidFill>
                <a:latin typeface="Calibri"/>
              </a:rPr>
              <a:t>D1: Profiles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760720" y="5486400"/>
            <a:ext cx="9144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760720" y="5537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CD34D"/>
                </a:solidFill>
                <a:latin typeface="Calibri"/>
              </a:rPr>
              <a:t>DB Trigger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20840" y="5562600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→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995160" y="5486400"/>
            <a:ext cx="3291840" cy="347472"/>
          </a:xfrm>
          <a:prstGeom prst="rect">
            <a:avLst/>
          </a:prstGeom>
          <a:solidFill>
            <a:srgbClr val="0D407C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022592" y="553720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P6: Auto Stock Decrement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314432" y="5562600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→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561320" y="5486400"/>
            <a:ext cx="1143000" cy="347472"/>
          </a:xfrm>
          <a:prstGeom prst="rect">
            <a:avLst/>
          </a:prstGeom>
          <a:solidFill>
            <a:srgbClr val="062E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0561320" y="553720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EE7B7"/>
                </a:solidFill>
                <a:latin typeface="Calibri"/>
              </a:rPr>
              <a:t>D3: Stock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2194560" cy="292608"/>
          </a:xfrm>
          <a:prstGeom prst="rect">
            <a:avLst/>
          </a:prstGeom>
          <a:solidFill>
            <a:srgbClr val="173A7A"/>
          </a:solidFill>
          <a:ln w="1270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899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3C5FD"/>
                </a:solidFill>
                <a:latin typeface="Calibri"/>
              </a:rPr>
              <a:t>🗂️  ER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Entity Relationship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914400" cy="50800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1115568"/>
            <a:ext cx="27432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A5FA"/>
                </a:solidFill>
                <a:latin typeface="Calibri"/>
              </a:rPr>
              <a:t>🏥  MediFind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6080"/>
                </a:solidFill>
                <a:latin typeface="Calibri"/>
              </a:rPr>
              <a:t>08 /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25880"/>
            <a:ext cx="2011680" cy="274320"/>
          </a:xfrm>
          <a:prstGeom prst="rect">
            <a:avLst/>
          </a:prstGeom>
          <a:solidFill>
            <a:srgbClr val="0D407C"/>
          </a:solidFill>
          <a:ln w="1905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1363980"/>
            <a:ext cx="201168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profiles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00200"/>
            <a:ext cx="2011680" cy="274320"/>
          </a:xfrm>
          <a:prstGeom prst="rect">
            <a:avLst/>
          </a:prstGeom>
          <a:solidFill>
            <a:srgbClr val="102038"/>
          </a:solidFill>
          <a:ln w="1016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" y="1638300"/>
            <a:ext cx="146304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1638300"/>
            <a:ext cx="45720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CD34D"/>
                </a:solidFill>
                <a:latin typeface="Calibri"/>
              </a:rPr>
              <a:t>PK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874520"/>
            <a:ext cx="2011680" cy="274320"/>
          </a:xfrm>
          <a:prstGeom prst="rect">
            <a:avLst/>
          </a:prstGeom>
          <a:solidFill>
            <a:srgbClr val="102038"/>
          </a:solidFill>
          <a:ln w="1016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" y="1912620"/>
            <a:ext cx="146304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full_name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148840"/>
            <a:ext cx="2011680" cy="274320"/>
          </a:xfrm>
          <a:prstGeom prst="rect">
            <a:avLst/>
          </a:prstGeom>
          <a:solidFill>
            <a:srgbClr val="102038"/>
          </a:solidFill>
          <a:ln w="1016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2186940"/>
            <a:ext cx="146304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email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423160"/>
            <a:ext cx="2011680" cy="274320"/>
          </a:xfrm>
          <a:prstGeom prst="rect">
            <a:avLst/>
          </a:prstGeom>
          <a:solidFill>
            <a:srgbClr val="102038"/>
          </a:solidFill>
          <a:ln w="1016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" y="2461260"/>
            <a:ext cx="146304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role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697480"/>
            <a:ext cx="2011680" cy="274320"/>
          </a:xfrm>
          <a:prstGeom prst="rect">
            <a:avLst/>
          </a:prstGeom>
          <a:solidFill>
            <a:srgbClr val="102038"/>
          </a:solidFill>
          <a:ln w="1016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7472" y="2735580"/>
            <a:ext cx="146304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created_at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40864" y="19202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  <a:latin typeface="Calibri"/>
              </a:rPr>
              <a:t>1:1 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1325880"/>
            <a:ext cx="2011680" cy="274320"/>
          </a:xfrm>
          <a:prstGeom prst="rect">
            <a:avLst/>
          </a:prstGeom>
          <a:solidFill>
            <a:srgbClr val="064055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0" y="1363980"/>
            <a:ext cx="201168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pharmacies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1600200"/>
            <a:ext cx="2011680" cy="274320"/>
          </a:xfrm>
          <a:prstGeom prst="rect">
            <a:avLst/>
          </a:prstGeom>
          <a:solidFill>
            <a:srgbClr val="102038"/>
          </a:solidFill>
          <a:ln w="1016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73552" y="1638300"/>
            <a:ext cx="146304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1638300"/>
            <a:ext cx="45720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CD34D"/>
                </a:solidFill>
                <a:latin typeface="Calibri"/>
              </a:rPr>
              <a:t>PK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1874520"/>
            <a:ext cx="2011680" cy="274320"/>
          </a:xfrm>
          <a:prstGeom prst="rect">
            <a:avLst/>
          </a:prstGeom>
          <a:solidFill>
            <a:srgbClr val="102038"/>
          </a:solidFill>
          <a:ln w="1016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73552" y="1912620"/>
            <a:ext cx="146304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owner_id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1912620"/>
            <a:ext cx="45720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06B6D4"/>
                </a:solidFill>
                <a:latin typeface="Calibri"/>
              </a:rPr>
              <a:t>FK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2148840"/>
            <a:ext cx="2011680" cy="274320"/>
          </a:xfrm>
          <a:prstGeom prst="rect">
            <a:avLst/>
          </a:prstGeom>
          <a:solidFill>
            <a:srgbClr val="102038"/>
          </a:solidFill>
          <a:ln w="1016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73552" y="2186940"/>
            <a:ext cx="146304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name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0" y="2423160"/>
            <a:ext cx="2011680" cy="274320"/>
          </a:xfrm>
          <a:prstGeom prst="rect">
            <a:avLst/>
          </a:prstGeom>
          <a:solidFill>
            <a:srgbClr val="102038"/>
          </a:solidFill>
          <a:ln w="1016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73552" y="2461260"/>
            <a:ext cx="146304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address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0" y="2697480"/>
            <a:ext cx="2011680" cy="274320"/>
          </a:xfrm>
          <a:prstGeom prst="rect">
            <a:avLst/>
          </a:prstGeom>
          <a:solidFill>
            <a:srgbClr val="102038"/>
          </a:solidFill>
          <a:ln w="1016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73552" y="2735580"/>
            <a:ext cx="146304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lat, lng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0" y="2971800"/>
            <a:ext cx="2011680" cy="274320"/>
          </a:xfrm>
          <a:prstGeom prst="rect">
            <a:avLst/>
          </a:prstGeom>
          <a:solidFill>
            <a:srgbClr val="102038"/>
          </a:solidFill>
          <a:ln w="1016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73552" y="3009900"/>
            <a:ext cx="146304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phone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3246120"/>
            <a:ext cx="2011680" cy="274320"/>
          </a:xfrm>
          <a:prstGeom prst="rect">
            <a:avLst/>
          </a:prstGeom>
          <a:solidFill>
            <a:srgbClr val="102038"/>
          </a:solidFill>
          <a:ln w="1016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273552" y="3284220"/>
            <a:ext cx="146304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hours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0" y="3520440"/>
            <a:ext cx="2011680" cy="274320"/>
          </a:xfrm>
          <a:prstGeom prst="rect">
            <a:avLst/>
          </a:prstGeom>
          <a:solidFill>
            <a:srgbClr val="102038"/>
          </a:solidFill>
          <a:ln w="1016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73552" y="3558540"/>
            <a:ext cx="146304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is_open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66944" y="21945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  <a:latin typeface="Calibri"/>
              </a:rPr>
              <a:t>M:M 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6480" y="1325880"/>
            <a:ext cx="2011680" cy="274320"/>
          </a:xfrm>
          <a:prstGeom prst="rect">
            <a:avLst/>
          </a:prstGeom>
          <a:solidFill>
            <a:srgbClr val="054A5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126480" y="1363980"/>
            <a:ext cx="201168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pharmacy_stock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1600200"/>
            <a:ext cx="2011680" cy="274320"/>
          </a:xfrm>
          <a:prstGeom prst="rect">
            <a:avLst/>
          </a:prstGeom>
          <a:solidFill>
            <a:srgbClr val="102038"/>
          </a:solidFill>
          <a:ln w="1016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199632" y="1638300"/>
            <a:ext cx="146304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id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1638300"/>
            <a:ext cx="45720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CD34D"/>
                </a:solidFill>
                <a:latin typeface="Calibri"/>
              </a:rPr>
              <a:t>PK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80" y="1874520"/>
            <a:ext cx="2011680" cy="274320"/>
          </a:xfrm>
          <a:prstGeom prst="rect">
            <a:avLst/>
          </a:prstGeom>
          <a:solidFill>
            <a:srgbClr val="102038"/>
          </a:solidFill>
          <a:ln w="1016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199632" y="1912620"/>
            <a:ext cx="146304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pharmacy_id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1912620"/>
            <a:ext cx="45720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06B6D4"/>
                </a:solidFill>
                <a:latin typeface="Calibri"/>
              </a:rPr>
              <a:t>FK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26480" y="2148840"/>
            <a:ext cx="2011680" cy="274320"/>
          </a:xfrm>
          <a:prstGeom prst="rect">
            <a:avLst/>
          </a:prstGeom>
          <a:solidFill>
            <a:srgbClr val="102038"/>
          </a:solidFill>
          <a:ln w="1016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199632" y="2186940"/>
            <a:ext cx="146304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medicine_id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2186940"/>
            <a:ext cx="45720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06B6D4"/>
                </a:solidFill>
                <a:latin typeface="Calibri"/>
              </a:rPr>
              <a:t>FK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0" y="2423160"/>
            <a:ext cx="2011680" cy="274320"/>
          </a:xfrm>
          <a:prstGeom prst="rect">
            <a:avLst/>
          </a:prstGeom>
          <a:solidFill>
            <a:srgbClr val="102038"/>
          </a:solidFill>
          <a:ln w="1016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199632" y="2461260"/>
            <a:ext cx="146304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quantity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26480" y="2697480"/>
            <a:ext cx="2011680" cy="274320"/>
          </a:xfrm>
          <a:prstGeom prst="rect">
            <a:avLst/>
          </a:prstGeom>
          <a:solidFill>
            <a:srgbClr val="102038"/>
          </a:solidFill>
          <a:ln w="1016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199632" y="2735580"/>
            <a:ext cx="146304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price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26480" y="2971800"/>
            <a:ext cx="2011680" cy="274320"/>
          </a:xfrm>
          <a:prstGeom prst="rect">
            <a:avLst/>
          </a:prstGeom>
          <a:solidFill>
            <a:srgbClr val="102038"/>
          </a:solidFill>
          <a:ln w="1016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199632" y="3009900"/>
            <a:ext cx="146304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status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26480" y="3246120"/>
            <a:ext cx="2011680" cy="274320"/>
          </a:xfrm>
          <a:prstGeom prst="rect">
            <a:avLst/>
          </a:prstGeom>
          <a:solidFill>
            <a:srgbClr val="102038"/>
          </a:solidFill>
          <a:ln w="1016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199632" y="3284220"/>
            <a:ext cx="146304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updated_at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93024" y="21945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  <a:latin typeface="Calibri"/>
              </a:rPr>
              <a:t>↔ M:M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52560" y="1325880"/>
            <a:ext cx="2011680" cy="274320"/>
          </a:xfrm>
          <a:prstGeom prst="rect">
            <a:avLst/>
          </a:prstGeom>
          <a:solidFill>
            <a:srgbClr val="063E2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052560" y="1363980"/>
            <a:ext cx="201168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medicines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52560" y="1600200"/>
            <a:ext cx="2011680" cy="274320"/>
          </a:xfrm>
          <a:prstGeom prst="rect">
            <a:avLst/>
          </a:prstGeom>
          <a:solidFill>
            <a:srgbClr val="102038"/>
          </a:solidFill>
          <a:ln w="1016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25712" y="1638300"/>
            <a:ext cx="146304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id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61320" y="1638300"/>
            <a:ext cx="45720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CD34D"/>
                </a:solidFill>
                <a:latin typeface="Calibri"/>
              </a:rPr>
              <a:t>PK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052560" y="1874520"/>
            <a:ext cx="2011680" cy="274320"/>
          </a:xfrm>
          <a:prstGeom prst="rect">
            <a:avLst/>
          </a:prstGeom>
          <a:solidFill>
            <a:srgbClr val="102038"/>
          </a:solidFill>
          <a:ln w="1016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125712" y="1912620"/>
            <a:ext cx="146304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name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052560" y="2148840"/>
            <a:ext cx="2011680" cy="274320"/>
          </a:xfrm>
          <a:prstGeom prst="rect">
            <a:avLst/>
          </a:prstGeom>
          <a:solidFill>
            <a:srgbClr val="102038"/>
          </a:solidFill>
          <a:ln w="1016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125712" y="2186940"/>
            <a:ext cx="146304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generic_name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52560" y="2423160"/>
            <a:ext cx="2011680" cy="274320"/>
          </a:xfrm>
          <a:prstGeom prst="rect">
            <a:avLst/>
          </a:prstGeom>
          <a:solidFill>
            <a:srgbClr val="102038"/>
          </a:solidFill>
          <a:ln w="1016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125712" y="2461260"/>
            <a:ext cx="146304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category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26480" y="4434840"/>
            <a:ext cx="2011680" cy="274320"/>
          </a:xfrm>
          <a:prstGeom prst="rect">
            <a:avLst/>
          </a:prstGeom>
          <a:solidFill>
            <a:srgbClr val="4A280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126480" y="4472940"/>
            <a:ext cx="201168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reservations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26480" y="4709160"/>
            <a:ext cx="2011680" cy="274320"/>
          </a:xfrm>
          <a:prstGeom prst="rect">
            <a:avLst/>
          </a:prstGeom>
          <a:solidFill>
            <a:srgbClr val="102038"/>
          </a:solidFill>
          <a:ln w="1016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199632" y="4747260"/>
            <a:ext cx="146304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id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35240" y="4747260"/>
            <a:ext cx="45720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CD34D"/>
                </a:solidFill>
                <a:latin typeface="Calibri"/>
              </a:rPr>
              <a:t>PK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126480" y="4983480"/>
            <a:ext cx="2011680" cy="274320"/>
          </a:xfrm>
          <a:prstGeom prst="rect">
            <a:avLst/>
          </a:prstGeom>
          <a:solidFill>
            <a:srgbClr val="102038"/>
          </a:solidFill>
          <a:ln w="1016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199632" y="5021580"/>
            <a:ext cx="146304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user_id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635240" y="5021580"/>
            <a:ext cx="45720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06B6D4"/>
                </a:solidFill>
                <a:latin typeface="Calibri"/>
              </a:rPr>
              <a:t>FK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26480" y="5257800"/>
            <a:ext cx="2011680" cy="274320"/>
          </a:xfrm>
          <a:prstGeom prst="rect">
            <a:avLst/>
          </a:prstGeom>
          <a:solidFill>
            <a:srgbClr val="102038"/>
          </a:solidFill>
          <a:ln w="1016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6199632" y="5295900"/>
            <a:ext cx="146304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pharmacy_stock_id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635240" y="5295900"/>
            <a:ext cx="45720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06B6D4"/>
                </a:solidFill>
                <a:latin typeface="Calibri"/>
              </a:rPr>
              <a:t>FK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126480" y="5532120"/>
            <a:ext cx="2011680" cy="274320"/>
          </a:xfrm>
          <a:prstGeom prst="rect">
            <a:avLst/>
          </a:prstGeom>
          <a:solidFill>
            <a:srgbClr val="102038"/>
          </a:solidFill>
          <a:ln w="1016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199632" y="5570220"/>
            <a:ext cx="146304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quantity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126480" y="5806440"/>
            <a:ext cx="2011680" cy="274320"/>
          </a:xfrm>
          <a:prstGeom prst="rect">
            <a:avLst/>
          </a:prstGeom>
          <a:solidFill>
            <a:srgbClr val="102038"/>
          </a:solidFill>
          <a:ln w="1016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199632" y="5844540"/>
            <a:ext cx="146304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status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126480" y="6080760"/>
            <a:ext cx="2011680" cy="274320"/>
          </a:xfrm>
          <a:prstGeom prst="rect">
            <a:avLst/>
          </a:prstGeom>
          <a:solidFill>
            <a:srgbClr val="102038"/>
          </a:solidFill>
          <a:ln w="1016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199632" y="6118860"/>
            <a:ext cx="146304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prescription_url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26480" y="6355080"/>
            <a:ext cx="2011680" cy="274320"/>
          </a:xfrm>
          <a:prstGeom prst="rect">
            <a:avLst/>
          </a:prstGeom>
          <a:solidFill>
            <a:srgbClr val="102038"/>
          </a:solidFill>
          <a:ln w="1016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199632" y="6393180"/>
            <a:ext cx="1463040" cy="22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created_at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995160" y="38862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  <a:latin typeface="Calibri"/>
              </a:rPr>
              <a:t>1:N ↓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5847" y="4709160"/>
            <a:ext cx="5587869" cy="548640"/>
          </a:xfrm>
          <a:prstGeom prst="rect">
            <a:avLst/>
          </a:prstGeom>
          <a:solidFill>
            <a:srgbClr val="0D1F3C"/>
          </a:solidFill>
          <a:ln w="1270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81897" y="4846320"/>
            <a:ext cx="546181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B0C4DE"/>
                </a:solidFill>
                <a:latin typeface="Calibri"/>
              </a:rPr>
              <a:t>🔑 PK = Primary Key   |   🔗 FK = Foreign Key   |   Status: pending → ready → collected / cancelled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2194560" cy="292608"/>
          </a:xfrm>
          <a:prstGeom prst="rect">
            <a:avLst/>
          </a:prstGeom>
          <a:solidFill>
            <a:srgbClr val="173A7A"/>
          </a:solidFill>
          <a:ln w="1270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899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3C5FD"/>
                </a:solidFill>
                <a:latin typeface="Calibri"/>
              </a:rPr>
              <a:t>🧩  Module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System Modules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914400" cy="50800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1115568"/>
            <a:ext cx="27432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A5FA"/>
                </a:solidFill>
                <a:latin typeface="Calibri"/>
              </a:rPr>
              <a:t>🏥  MediFind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6080"/>
                </a:solidFill>
                <a:latin typeface="Calibri"/>
              </a:rPr>
              <a:t>09 /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80160"/>
            <a:ext cx="3840480" cy="4114800"/>
          </a:xfrm>
          <a:prstGeom prst="rect">
            <a:avLst/>
          </a:prstGeom>
          <a:solidFill>
            <a:srgbClr val="14243C"/>
          </a:solidFill>
          <a:ln w="1524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140817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  <a:latin typeface="Calibri"/>
              </a:rPr>
              <a:t>👤  Module 1: Patient (User)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72821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Search medicines by brand / generic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975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GPS proximity filters and radius slider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2219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List view / Map view toggle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4688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B0C4DE"/>
                </a:solidFill>
                <a:latin typeface="Calibri"/>
              </a:rPr>
              <a:t>  •  Reserve medicine quantities online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7157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Upload prescriptions (PDF/PNG/JPG)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96265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Dashboard: track reservation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20954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Download prescription documents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1280160"/>
            <a:ext cx="3840480" cy="4114800"/>
          </a:xfrm>
          <a:prstGeom prst="rect">
            <a:avLst/>
          </a:prstGeom>
          <a:solidFill>
            <a:srgbClr val="14243C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43400" y="140817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🏪  Module 2: Pharmacy Owner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172821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Onboarding wizard (coordinates, hours)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1975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Inventory CRUD (add, edit, delete)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22219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Upload custom product images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24688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B0C4DE"/>
                </a:solidFill>
                <a:latin typeface="Calibri"/>
              </a:rPr>
              <a:t>  •  View and manage patient reservations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27157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Prescription verification in high-res modal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296265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Mark orders: Ready / Collected / Cancelled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320954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Realtime PostgreSQL sync (auto-refresh)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1280160"/>
            <a:ext cx="3840480" cy="4114800"/>
          </a:xfrm>
          <a:prstGeom prst="rect">
            <a:avLst/>
          </a:prstGeom>
          <a:solidFill>
            <a:srgbClr val="14243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75320" y="140817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🔐  Module 3: Auth &amp;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172821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Email/Password auth via Supabase Auth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1975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Role-based access: user/pharmacy/admin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2219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Next.js middleware route guards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24688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Row Level Security (RLS) on all tables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27157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Token refresh &amp; cookie-based sessions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296265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PostgreSQL triggers for auto stock decrement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320954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Full-text search (FTS) index on medicines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486400"/>
            <a:ext cx="11704320" cy="640080"/>
          </a:xfrm>
          <a:prstGeom prst="rect">
            <a:avLst/>
          </a:prstGeom>
          <a:solidFill>
            <a:srgbClr val="0D2850"/>
          </a:solidFill>
          <a:ln w="1270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55321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  <a:latin typeface="Calibri"/>
              </a:rPr>
              <a:t>Module Interactions: Patient → Auth Module (identity) → DB Search → submits Reservation → Pharmacy Module verifies Rx from Storage → DB Trigger auto-decrements stock on collection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2194560" cy="292608"/>
          </a:xfrm>
          <a:prstGeom prst="rect">
            <a:avLst/>
          </a:prstGeom>
          <a:solidFill>
            <a:srgbClr val="173A7A"/>
          </a:solidFill>
          <a:ln w="1270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899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3C5FD"/>
                </a:solidFill>
                <a:latin typeface="Calibri"/>
              </a:rPr>
              <a:t>🖥️  User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Application Screens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914400" cy="50800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1115568"/>
            <a:ext cx="27432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A5FA"/>
                </a:solidFill>
                <a:latin typeface="Calibri"/>
              </a:rPr>
              <a:t>🏥  MediFind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6080"/>
                </a:solidFill>
                <a:latin typeface="Calibri"/>
              </a:rPr>
              <a:t>10 / 16</a:t>
            </a:r>
          </a:p>
        </p:txBody>
      </p:sp>
      <p:pic>
        <p:nvPicPr>
          <p:cNvPr id="10" name="Picture 9" descr="login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2834640" cy="2011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336499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0C4DE"/>
                </a:solidFill>
                <a:latin typeface="Calibri"/>
              </a:rPr>
              <a:t>🔐 Login Page — Email/password auth with role-based routing</a:t>
            </a:r>
          </a:p>
        </p:txBody>
      </p:sp>
      <p:pic>
        <p:nvPicPr>
          <p:cNvPr id="12" name="Picture 11" descr="Find Medicine 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280160"/>
            <a:ext cx="2834640" cy="2011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46120" y="336499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0C4DE"/>
                </a:solidFill>
                <a:latin typeface="Calibri"/>
              </a:rPr>
              <a:t>🔍 Find Medicine — GPS filters, stock badges, reserve button</a:t>
            </a:r>
          </a:p>
        </p:txBody>
      </p:sp>
      <p:pic>
        <p:nvPicPr>
          <p:cNvPr id="14" name="Picture 13" descr="Pharmacy Lis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80160"/>
            <a:ext cx="2834640" cy="2011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17920" y="336499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0C4DE"/>
                </a:solidFill>
                <a:latin typeface="Calibri"/>
              </a:rPr>
              <a:t>🏪 Pharmacy Directory — Proximity-sorted with map toggle</a:t>
            </a:r>
          </a:p>
        </p:txBody>
      </p:sp>
      <p:pic>
        <p:nvPicPr>
          <p:cNvPr id="16" name="Picture 15" descr="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0" y="1280160"/>
            <a:ext cx="2834640" cy="20116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189720" y="336499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0C4DE"/>
                </a:solidFill>
                <a:latin typeface="Calibri"/>
              </a:rPr>
              <a:t>📊 Pharmacy Dashboard — Live inventory &amp; POS sync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977639"/>
            <a:ext cx="2377440" cy="685800"/>
          </a:xfrm>
          <a:prstGeom prst="rect">
            <a:avLst/>
          </a:prstGeom>
          <a:solidFill>
            <a:srgbClr val="14243C"/>
          </a:solidFill>
          <a:ln w="1270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0050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D7FF9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159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B0C4DE"/>
                </a:solidFill>
                <a:latin typeface="Calibri"/>
              </a:rPr>
              <a:t>User Roles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977639"/>
            <a:ext cx="2377440" cy="685800"/>
          </a:xfrm>
          <a:prstGeom prst="rect">
            <a:avLst/>
          </a:prstGeom>
          <a:solidFill>
            <a:srgbClr val="14243C"/>
          </a:solidFill>
          <a:ln w="1270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29000" y="40050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D7FF9"/>
                </a:solidFill>
                <a:latin typeface="Calibri"/>
              </a:rPr>
              <a:t>5+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43159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  <a:latin typeface="Calibri"/>
              </a:rPr>
              <a:t>Core Screens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977639"/>
            <a:ext cx="2377440" cy="685800"/>
          </a:xfrm>
          <a:prstGeom prst="rect">
            <a:avLst/>
          </a:prstGeom>
          <a:solidFill>
            <a:srgbClr val="14243C"/>
          </a:solidFill>
          <a:ln w="1270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26480" y="40050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D7FF9"/>
                </a:solidFill>
                <a:latin typeface="Calibri"/>
              </a:rPr>
              <a:t>360px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3159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  <a:latin typeface="Calibri"/>
              </a:rPr>
              <a:t>Min Width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23960" y="3977639"/>
            <a:ext cx="2377440" cy="685800"/>
          </a:xfrm>
          <a:prstGeom prst="rect">
            <a:avLst/>
          </a:prstGeom>
          <a:solidFill>
            <a:srgbClr val="14243C"/>
          </a:solidFill>
          <a:ln w="1270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23960" y="40050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D7FF9"/>
                </a:solidFill>
                <a:latin typeface="Calibri"/>
              </a:rPr>
              <a:t>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43159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  <a:latin typeface="Calibri"/>
              </a:rPr>
              <a:t>Responsive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2194560" cy="292608"/>
          </a:xfrm>
          <a:prstGeom prst="rect">
            <a:avLst/>
          </a:prstGeom>
          <a:solidFill>
            <a:srgbClr val="173A7A"/>
          </a:solidFill>
          <a:ln w="1270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899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3C5FD"/>
                </a:solidFill>
                <a:latin typeface="Calibri"/>
              </a:rPr>
              <a:t>⚙️ 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Key Implementation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914400" cy="50800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1115568"/>
            <a:ext cx="27432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A5FA"/>
                </a:solidFill>
                <a:latin typeface="Calibri"/>
              </a:rPr>
              <a:t>🏥  MediFind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6080"/>
                </a:solidFill>
                <a:latin typeface="Calibri"/>
              </a:rPr>
              <a:t>11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28016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7FF9"/>
                </a:solidFill>
                <a:latin typeface="Calibri"/>
              </a:rPr>
              <a:t>Haversine Geolocation Algorithm (TypeScript)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00200"/>
            <a:ext cx="5669280" cy="21488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627632"/>
            <a:ext cx="5486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ourier New"/>
              </a:rPr>
              <a:t>export function calculateDistance(
  lat1: number, lon1: number,
  lat2: number, lon2: number
): number {
  const R = 6371; // Earth radius in km
  const dLat = (lat2-lat1) * (Math.PI/180);
  const a = Math.sin(dLat/2)**2 +
    Math.cos(lat1*0.01745) * Math.cos(lat2*0.01745)
    * Math.sin(dLon/2)**2;
  return parseFloat((R*2*atan2(va,v1a)).toFixed(1));
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79476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7FF9"/>
                </a:solidFill>
                <a:latin typeface="Calibri"/>
              </a:rPr>
              <a:t>PostgreSQL Auto-Decrement Trigger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114800"/>
            <a:ext cx="5669280" cy="20574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4142232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ourier New"/>
              </a:rPr>
              <a:t>CREATE OR REPLACE FUNCTION
  decrement_stock_on_collection()
RETURNS trigger AS $$
BEGIN
  IF new.status = 'collected'
     AND old.status != 'collected' THEN
    UPDATE pharmacy_stock
    SET quantity = GREATEST(0, quantity - new.quantity)
    WHERE id = new.pharmacy_stock_id;
  END IF; RETURN new;
END; $$ LANGUAGE plpgsql;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28016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7FF9"/>
                </a:solidFill>
                <a:latin typeface="Calibri"/>
              </a:rPr>
              <a:t>3-Tier Architecture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600200"/>
            <a:ext cx="1280160" cy="438912"/>
          </a:xfrm>
          <a:prstGeom prst="rect">
            <a:avLst/>
          </a:prstGeom>
          <a:solidFill>
            <a:srgbClr val="0D2850"/>
          </a:solidFill>
          <a:ln w="1905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16764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D7FF9"/>
                </a:solidFill>
                <a:latin typeface="Calibri"/>
              </a:rPr>
              <a:t>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170180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Next.js Pages, React Components, Tailwind CSS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103120"/>
            <a:ext cx="1280160" cy="438912"/>
          </a:xfrm>
          <a:prstGeom prst="rect">
            <a:avLst/>
          </a:prstGeom>
          <a:solidFill>
            <a:srgbClr val="0D285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21793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B6D4"/>
                </a:solidFill>
                <a:latin typeface="Calibri"/>
              </a:rPr>
              <a:t>Application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220472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Route Middleware, Haversine Engine, Supabase SSR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606040"/>
            <a:ext cx="1280160" cy="438912"/>
          </a:xfrm>
          <a:prstGeom prst="rect">
            <a:avLst/>
          </a:prstGeom>
          <a:solidFill>
            <a:srgbClr val="0D285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0" y="26822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  <a:latin typeface="Calibri"/>
              </a:rPr>
              <a:t>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270764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PostgreSQL 15, Storage, DB Triggers, RLS Policies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090951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2D7FF9"/>
                </a:solidFill>
                <a:latin typeface="Calibri"/>
              </a:rPr>
              <a:t>Agile Sprint Summary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29184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●  Sprint 0:  Requirements, setup, DB schema 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72160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●  Sprint 1:  Auth, Route guards, Live database 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15137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●  Sprint 2:  Haversine GPS, Map pins, Town auto-snapping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58114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●  Sprint 3:  Reservation system, Inventory CRUD, Triggers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01091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●  Sprint 4:  Prescription upload &amp; Verification modal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544068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●  Sprint 5:  Testing, Deployment, Documentation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2194560" cy="292608"/>
          </a:xfrm>
          <a:prstGeom prst="rect">
            <a:avLst/>
          </a:prstGeom>
          <a:solidFill>
            <a:srgbClr val="173A7A"/>
          </a:solidFill>
          <a:ln w="1270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899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3C5FD"/>
                </a:solidFill>
                <a:latin typeface="Calibri"/>
              </a:rPr>
              <a:t>🧪 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Testing &amp; Quality Assurance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914400" cy="50800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1115568"/>
            <a:ext cx="27432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A5FA"/>
                </a:solidFill>
                <a:latin typeface="Calibri"/>
              </a:rPr>
              <a:t>🏥  MediFind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6080"/>
                </a:solidFill>
                <a:latin typeface="Calibri"/>
              </a:rPr>
              <a:t>12 /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61872"/>
            <a:ext cx="3749039" cy="822960"/>
          </a:xfrm>
          <a:prstGeom prst="rect">
            <a:avLst/>
          </a:prstGeom>
          <a:solidFill>
            <a:srgbClr val="14243C"/>
          </a:solidFill>
          <a:ln w="1270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2801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7FF9"/>
                </a:solidFill>
                <a:latin typeface="Calibri"/>
              </a:rPr>
              <a:t>Unit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53619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  <a:latin typeface="Calibri"/>
              </a:rPr>
              <a:t>Haversine edge cases, boundary GPS coords, enum stock status transitions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261872"/>
            <a:ext cx="3749039" cy="822960"/>
          </a:xfrm>
          <a:prstGeom prst="rect">
            <a:avLst/>
          </a:prstGeom>
          <a:solidFill>
            <a:srgbClr val="14243C"/>
          </a:solidFill>
          <a:ln w="1270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0" y="12801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7FF9"/>
                </a:solidFill>
                <a:latin typeface="Calibri"/>
              </a:rPr>
              <a:t>Integration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53619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  <a:latin typeface="Calibri"/>
              </a:rPr>
              <a:t>Supabase SSR sessions, route middleware RBAC, PostgreSQL trigger execution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1261872"/>
            <a:ext cx="3749039" cy="822960"/>
          </a:xfrm>
          <a:prstGeom prst="rect">
            <a:avLst/>
          </a:prstGeom>
          <a:solidFill>
            <a:srgbClr val="14243C"/>
          </a:solidFill>
          <a:ln w="1270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12801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7FF9"/>
                </a:solidFill>
                <a:latin typeface="Calibri"/>
              </a:rPr>
              <a:t>UAT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53619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  <a:latin typeface="Calibri"/>
              </a:rPr>
              <a:t>Live mobile device testing in Perinthalmanna &amp; Valanchery — real 4G conditions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212848"/>
            <a:ext cx="640080" cy="347472"/>
          </a:xfrm>
          <a:prstGeom prst="rect">
            <a:avLst/>
          </a:prstGeom>
          <a:solidFill>
            <a:srgbClr val="1A5FC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12420" y="2276348"/>
            <a:ext cx="58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2212848"/>
            <a:ext cx="1188720" cy="347472"/>
          </a:xfrm>
          <a:prstGeom prst="rect">
            <a:avLst/>
          </a:prstGeom>
          <a:solidFill>
            <a:srgbClr val="1A5FC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2500" y="2276348"/>
            <a:ext cx="113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Module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03120" y="2212848"/>
            <a:ext cx="3017520" cy="347472"/>
          </a:xfrm>
          <a:prstGeom prst="rect">
            <a:avLst/>
          </a:prstGeom>
          <a:solidFill>
            <a:srgbClr val="1A5FC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41220" y="2276348"/>
            <a:ext cx="296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Input / Action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0" y="2212848"/>
            <a:ext cx="3200400" cy="347472"/>
          </a:xfrm>
          <a:prstGeom prst="rect">
            <a:avLst/>
          </a:prstGeom>
          <a:solidFill>
            <a:srgbClr val="1A5FC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58740" y="2276348"/>
            <a:ext cx="314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Expected Result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2212848"/>
            <a:ext cx="2011680" cy="347472"/>
          </a:xfrm>
          <a:prstGeom prst="rect">
            <a:avLst/>
          </a:prstGeom>
          <a:solidFill>
            <a:srgbClr val="1A5FC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59140" y="2276348"/>
            <a:ext cx="1960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Actual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332720" y="2212848"/>
            <a:ext cx="1005840" cy="347472"/>
          </a:xfrm>
          <a:prstGeom prst="rect">
            <a:avLst/>
          </a:prstGeom>
          <a:solidFill>
            <a:srgbClr val="1A5FC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70820" y="2276348"/>
            <a:ext cx="95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560320"/>
            <a:ext cx="640080" cy="301752"/>
          </a:xfrm>
          <a:prstGeom prst="rect">
            <a:avLst/>
          </a:prstGeom>
          <a:solidFill>
            <a:srgbClr val="102038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12420" y="2611120"/>
            <a:ext cx="58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TC-01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2560320"/>
            <a:ext cx="1188720" cy="301752"/>
          </a:xfrm>
          <a:prstGeom prst="rect">
            <a:avLst/>
          </a:prstGeom>
          <a:solidFill>
            <a:srgbClr val="102038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52500" y="2611120"/>
            <a:ext cx="113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Search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03120" y="2560320"/>
            <a:ext cx="3017520" cy="301752"/>
          </a:xfrm>
          <a:prstGeom prst="rect">
            <a:avLst/>
          </a:prstGeom>
          <a:solidFill>
            <a:srgbClr val="102038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141220" y="2611120"/>
            <a:ext cx="296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Enter Paracetamol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20640" y="2560320"/>
            <a:ext cx="3200400" cy="301752"/>
          </a:xfrm>
          <a:prstGeom prst="rect">
            <a:avLst/>
          </a:prstGeom>
          <a:solidFill>
            <a:srgbClr val="102038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158740" y="2611120"/>
            <a:ext cx="314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Lists pharmacies stocking 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1040" y="2560320"/>
            <a:ext cx="2011680" cy="301752"/>
          </a:xfrm>
          <a:prstGeom prst="rect">
            <a:avLst/>
          </a:prstGeom>
          <a:solidFill>
            <a:srgbClr val="102038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59140" y="2611120"/>
            <a:ext cx="1960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Results listed correctly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332720" y="2560320"/>
            <a:ext cx="1005840" cy="301752"/>
          </a:xfrm>
          <a:prstGeom prst="rect">
            <a:avLst/>
          </a:prstGeom>
          <a:solidFill>
            <a:srgbClr val="102038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370820" y="2611120"/>
            <a:ext cx="95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PASS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2862072"/>
            <a:ext cx="640080" cy="301752"/>
          </a:xfrm>
          <a:prstGeom prst="rect">
            <a:avLst/>
          </a:prstGeom>
          <a:solidFill>
            <a:srgbClr val="142644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12420" y="2912872"/>
            <a:ext cx="58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TC-02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" y="2862072"/>
            <a:ext cx="1188720" cy="301752"/>
          </a:xfrm>
          <a:prstGeom prst="rect">
            <a:avLst/>
          </a:prstGeom>
          <a:solidFill>
            <a:srgbClr val="142644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52500" y="2912872"/>
            <a:ext cx="113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Proximity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03120" y="2862072"/>
            <a:ext cx="3017520" cy="301752"/>
          </a:xfrm>
          <a:prstGeom prst="rect">
            <a:avLst/>
          </a:prstGeom>
          <a:solidFill>
            <a:srgbClr val="142644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41220" y="2912872"/>
            <a:ext cx="296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Select Perinthalmanna town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20640" y="2862072"/>
            <a:ext cx="3200400" cy="301752"/>
          </a:xfrm>
          <a:prstGeom prst="rect">
            <a:avLst/>
          </a:prstGeom>
          <a:solidFill>
            <a:srgbClr val="142644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158740" y="2912872"/>
            <a:ext cx="314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Pharmacies re-sort by distance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1040" y="2862072"/>
            <a:ext cx="2011680" cy="301752"/>
          </a:xfrm>
          <a:prstGeom prst="rect">
            <a:avLst/>
          </a:prstGeom>
          <a:solidFill>
            <a:srgbClr val="142644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359140" y="2912872"/>
            <a:ext cx="1960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Re-sorted correctly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332720" y="2862072"/>
            <a:ext cx="1005840" cy="301752"/>
          </a:xfrm>
          <a:prstGeom prst="rect">
            <a:avLst/>
          </a:prstGeom>
          <a:solidFill>
            <a:srgbClr val="142644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370820" y="2912872"/>
            <a:ext cx="95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PASS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163824"/>
            <a:ext cx="640080" cy="301752"/>
          </a:xfrm>
          <a:prstGeom prst="rect">
            <a:avLst/>
          </a:prstGeom>
          <a:solidFill>
            <a:srgbClr val="102038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12420" y="3214624"/>
            <a:ext cx="58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TC-03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4400" y="3163824"/>
            <a:ext cx="1188720" cy="301752"/>
          </a:xfrm>
          <a:prstGeom prst="rect">
            <a:avLst/>
          </a:prstGeom>
          <a:solidFill>
            <a:srgbClr val="102038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52500" y="3214624"/>
            <a:ext cx="113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Map View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103120" y="3163824"/>
            <a:ext cx="3017520" cy="301752"/>
          </a:xfrm>
          <a:prstGeom prst="rect">
            <a:avLst/>
          </a:prstGeom>
          <a:solidFill>
            <a:srgbClr val="102038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141220" y="3214624"/>
            <a:ext cx="296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Switch to Map View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20640" y="3163824"/>
            <a:ext cx="3200400" cy="301752"/>
          </a:xfrm>
          <a:prstGeom prst="rect">
            <a:avLst/>
          </a:prstGeom>
          <a:solidFill>
            <a:srgbClr val="102038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58740" y="3214624"/>
            <a:ext cx="314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Pins render on coordinates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321040" y="3163824"/>
            <a:ext cx="2011680" cy="301752"/>
          </a:xfrm>
          <a:prstGeom prst="rect">
            <a:avLst/>
          </a:prstGeom>
          <a:solidFill>
            <a:srgbClr val="102038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359140" y="3214624"/>
            <a:ext cx="1960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Pins rendered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332720" y="3163824"/>
            <a:ext cx="1005840" cy="301752"/>
          </a:xfrm>
          <a:prstGeom prst="rect">
            <a:avLst/>
          </a:prstGeom>
          <a:solidFill>
            <a:srgbClr val="102038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0370820" y="3214624"/>
            <a:ext cx="95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PASS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3465576"/>
            <a:ext cx="640080" cy="301752"/>
          </a:xfrm>
          <a:prstGeom prst="rect">
            <a:avLst/>
          </a:prstGeom>
          <a:solidFill>
            <a:srgbClr val="142644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12420" y="3516376"/>
            <a:ext cx="58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TC-04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14400" y="3465576"/>
            <a:ext cx="1188720" cy="301752"/>
          </a:xfrm>
          <a:prstGeom prst="rect">
            <a:avLst/>
          </a:prstGeom>
          <a:solidFill>
            <a:srgbClr val="142644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52500" y="3516376"/>
            <a:ext cx="113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Upload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103120" y="3465576"/>
            <a:ext cx="3017520" cy="301752"/>
          </a:xfrm>
          <a:prstGeom prst="rect">
            <a:avLst/>
          </a:prstGeom>
          <a:solidFill>
            <a:srgbClr val="142644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141220" y="3516376"/>
            <a:ext cx="296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Upload 2MB PDF prescription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120640" y="3465576"/>
            <a:ext cx="3200400" cy="301752"/>
          </a:xfrm>
          <a:prstGeom prst="rect">
            <a:avLst/>
          </a:prstGeom>
          <a:solidFill>
            <a:srgbClr val="142644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158740" y="3516376"/>
            <a:ext cx="314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Stored in bucket; preview shown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321040" y="3465576"/>
            <a:ext cx="2011680" cy="301752"/>
          </a:xfrm>
          <a:prstGeom prst="rect">
            <a:avLst/>
          </a:prstGeom>
          <a:solidFill>
            <a:srgbClr val="142644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359140" y="3516376"/>
            <a:ext cx="1960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File stored &amp; preview shown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332720" y="3465576"/>
            <a:ext cx="1005840" cy="301752"/>
          </a:xfrm>
          <a:prstGeom prst="rect">
            <a:avLst/>
          </a:prstGeom>
          <a:solidFill>
            <a:srgbClr val="142644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0370820" y="3516376"/>
            <a:ext cx="95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PASS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3767328"/>
            <a:ext cx="640080" cy="301752"/>
          </a:xfrm>
          <a:prstGeom prst="rect">
            <a:avLst/>
          </a:prstGeom>
          <a:solidFill>
            <a:srgbClr val="102038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12420" y="3818128"/>
            <a:ext cx="58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TC-05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" y="3767328"/>
            <a:ext cx="1188720" cy="301752"/>
          </a:xfrm>
          <a:prstGeom prst="rect">
            <a:avLst/>
          </a:prstGeom>
          <a:solidFill>
            <a:srgbClr val="102038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52500" y="3818128"/>
            <a:ext cx="113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Reservation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103120" y="3767328"/>
            <a:ext cx="3017520" cy="301752"/>
          </a:xfrm>
          <a:prstGeom prst="rect">
            <a:avLst/>
          </a:prstGeom>
          <a:solidFill>
            <a:srgbClr val="102038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2141220" y="3818128"/>
            <a:ext cx="296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Reserve 2 units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120640" y="3767328"/>
            <a:ext cx="3200400" cy="301752"/>
          </a:xfrm>
          <a:prstGeom prst="rect">
            <a:avLst/>
          </a:prstGeom>
          <a:solidFill>
            <a:srgbClr val="102038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158740" y="3818128"/>
            <a:ext cx="314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Status set to 'pending'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321040" y="3767328"/>
            <a:ext cx="2011680" cy="301752"/>
          </a:xfrm>
          <a:prstGeom prst="rect">
            <a:avLst/>
          </a:prstGeom>
          <a:solidFill>
            <a:srgbClr val="102038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359140" y="3818128"/>
            <a:ext cx="1960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Record created correctly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332720" y="3767328"/>
            <a:ext cx="1005840" cy="301752"/>
          </a:xfrm>
          <a:prstGeom prst="rect">
            <a:avLst/>
          </a:prstGeom>
          <a:solidFill>
            <a:srgbClr val="102038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0370820" y="3818128"/>
            <a:ext cx="95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PASS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74320" y="4069080"/>
            <a:ext cx="640080" cy="301752"/>
          </a:xfrm>
          <a:prstGeom prst="rect">
            <a:avLst/>
          </a:prstGeom>
          <a:solidFill>
            <a:srgbClr val="142644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312420" y="4119880"/>
            <a:ext cx="58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TC-06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14400" y="4069080"/>
            <a:ext cx="1188720" cy="301752"/>
          </a:xfrm>
          <a:prstGeom prst="rect">
            <a:avLst/>
          </a:prstGeom>
          <a:solidFill>
            <a:srgbClr val="142644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952500" y="4119880"/>
            <a:ext cx="113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Chemist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103120" y="4069080"/>
            <a:ext cx="3017520" cy="301752"/>
          </a:xfrm>
          <a:prstGeom prst="rect">
            <a:avLst/>
          </a:prstGeom>
          <a:solidFill>
            <a:srgbClr val="142644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2141220" y="4119880"/>
            <a:ext cx="296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Click Review Prescription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120640" y="4069080"/>
            <a:ext cx="3200400" cy="301752"/>
          </a:xfrm>
          <a:prstGeom prst="rect">
            <a:avLst/>
          </a:prstGeom>
          <a:solidFill>
            <a:srgbClr val="142644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5158740" y="4119880"/>
            <a:ext cx="314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High-res modal opens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321040" y="4069080"/>
            <a:ext cx="2011680" cy="301752"/>
          </a:xfrm>
          <a:prstGeom prst="rect">
            <a:avLst/>
          </a:prstGeom>
          <a:solidFill>
            <a:srgbClr val="142644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8359140" y="4119880"/>
            <a:ext cx="1960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Modal opened full-res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332720" y="4069080"/>
            <a:ext cx="1005840" cy="301752"/>
          </a:xfrm>
          <a:prstGeom prst="rect">
            <a:avLst/>
          </a:prstGeom>
          <a:solidFill>
            <a:srgbClr val="142644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10370820" y="4119880"/>
            <a:ext cx="95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PASS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" y="4370832"/>
            <a:ext cx="640080" cy="301752"/>
          </a:xfrm>
          <a:prstGeom prst="rect">
            <a:avLst/>
          </a:prstGeom>
          <a:solidFill>
            <a:srgbClr val="102038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312420" y="4421632"/>
            <a:ext cx="58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TC-07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14400" y="4370832"/>
            <a:ext cx="1188720" cy="301752"/>
          </a:xfrm>
          <a:prstGeom prst="rect">
            <a:avLst/>
          </a:prstGeom>
          <a:solidFill>
            <a:srgbClr val="102038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952500" y="4421632"/>
            <a:ext cx="113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Sync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103120" y="4370832"/>
            <a:ext cx="3017520" cy="301752"/>
          </a:xfrm>
          <a:prstGeom prst="rect">
            <a:avLst/>
          </a:prstGeom>
          <a:solidFill>
            <a:srgbClr val="102038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2141220" y="4421632"/>
            <a:ext cx="296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Mark order Ready for Pickup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120640" y="4370832"/>
            <a:ext cx="3200400" cy="301752"/>
          </a:xfrm>
          <a:prstGeom prst="rect">
            <a:avLst/>
          </a:prstGeom>
          <a:solidFill>
            <a:srgbClr val="102038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5158740" y="4421632"/>
            <a:ext cx="314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Patient badge updates real-time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321040" y="4370832"/>
            <a:ext cx="2011680" cy="301752"/>
          </a:xfrm>
          <a:prstGeom prst="rect">
            <a:avLst/>
          </a:prstGeom>
          <a:solidFill>
            <a:srgbClr val="102038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8359140" y="4421632"/>
            <a:ext cx="1960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Badge updated within 1s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332720" y="4370832"/>
            <a:ext cx="1005840" cy="301752"/>
          </a:xfrm>
          <a:prstGeom prst="rect">
            <a:avLst/>
          </a:prstGeom>
          <a:solidFill>
            <a:srgbClr val="102038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10370820" y="4421632"/>
            <a:ext cx="95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PASS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74320" y="4672584"/>
            <a:ext cx="640080" cy="301752"/>
          </a:xfrm>
          <a:prstGeom prst="rect">
            <a:avLst/>
          </a:prstGeom>
          <a:solidFill>
            <a:srgbClr val="142644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312420" y="4723384"/>
            <a:ext cx="58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TC-08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14400" y="4672584"/>
            <a:ext cx="1188720" cy="301752"/>
          </a:xfrm>
          <a:prstGeom prst="rect">
            <a:avLst/>
          </a:prstGeom>
          <a:solidFill>
            <a:srgbClr val="142644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952500" y="4723384"/>
            <a:ext cx="113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Trigger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103120" y="4672584"/>
            <a:ext cx="3017520" cy="301752"/>
          </a:xfrm>
          <a:prstGeom prst="rect">
            <a:avLst/>
          </a:prstGeom>
          <a:solidFill>
            <a:srgbClr val="142644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2141220" y="4723384"/>
            <a:ext cx="296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Mark order Collected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120640" y="4672584"/>
            <a:ext cx="3200400" cy="301752"/>
          </a:xfrm>
          <a:prstGeom prst="rect">
            <a:avLst/>
          </a:prstGeom>
          <a:solidFill>
            <a:srgbClr val="142644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5158740" y="4723384"/>
            <a:ext cx="314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Stock auto-decrements by 2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321040" y="4672584"/>
            <a:ext cx="2011680" cy="301752"/>
          </a:xfrm>
          <a:prstGeom prst="rect">
            <a:avLst/>
          </a:prstGeom>
          <a:solidFill>
            <a:srgbClr val="142644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8359140" y="4723384"/>
            <a:ext cx="1960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Stock correctly decremented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0332720" y="4672584"/>
            <a:ext cx="1005840" cy="301752"/>
          </a:xfrm>
          <a:prstGeom prst="rect">
            <a:avLst/>
          </a:prstGeom>
          <a:solidFill>
            <a:srgbClr val="142644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10370820" y="4723384"/>
            <a:ext cx="95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PASS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74320" y="4974336"/>
            <a:ext cx="640080" cy="301752"/>
          </a:xfrm>
          <a:prstGeom prst="rect">
            <a:avLst/>
          </a:prstGeom>
          <a:solidFill>
            <a:srgbClr val="102038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312420" y="5025136"/>
            <a:ext cx="58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TC-09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14400" y="4974336"/>
            <a:ext cx="1188720" cy="301752"/>
          </a:xfrm>
          <a:prstGeom prst="rect">
            <a:avLst/>
          </a:prstGeom>
          <a:solidFill>
            <a:srgbClr val="102038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952500" y="5025136"/>
            <a:ext cx="113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Auth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103120" y="4974336"/>
            <a:ext cx="3017520" cy="301752"/>
          </a:xfrm>
          <a:prstGeom prst="rect">
            <a:avLst/>
          </a:prstGeom>
          <a:solidFill>
            <a:srgbClr val="102038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2141220" y="5025136"/>
            <a:ext cx="296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Unauthenticated → /dashboard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120640" y="4974336"/>
            <a:ext cx="3200400" cy="301752"/>
          </a:xfrm>
          <a:prstGeom prst="rect">
            <a:avLst/>
          </a:prstGeom>
          <a:solidFill>
            <a:srgbClr val="102038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5158740" y="5025136"/>
            <a:ext cx="314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Middleware redirects to /login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321040" y="4974336"/>
            <a:ext cx="2011680" cy="301752"/>
          </a:xfrm>
          <a:prstGeom prst="rect">
            <a:avLst/>
          </a:prstGeom>
          <a:solidFill>
            <a:srgbClr val="102038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8359140" y="5025136"/>
            <a:ext cx="1960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Redirect executed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0332720" y="4974336"/>
            <a:ext cx="1005840" cy="301752"/>
          </a:xfrm>
          <a:prstGeom prst="rect">
            <a:avLst/>
          </a:prstGeom>
          <a:solidFill>
            <a:srgbClr val="102038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0370820" y="5025136"/>
            <a:ext cx="95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PASS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74320" y="5276088"/>
            <a:ext cx="640080" cy="301752"/>
          </a:xfrm>
          <a:prstGeom prst="rect">
            <a:avLst/>
          </a:prstGeom>
          <a:solidFill>
            <a:srgbClr val="142644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312420" y="5326888"/>
            <a:ext cx="58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TC-10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14400" y="5276088"/>
            <a:ext cx="1188720" cy="301752"/>
          </a:xfrm>
          <a:prstGeom prst="rect">
            <a:avLst/>
          </a:prstGeom>
          <a:solidFill>
            <a:srgbClr val="142644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952500" y="5326888"/>
            <a:ext cx="113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Inventory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2103120" y="5276088"/>
            <a:ext cx="3017520" cy="301752"/>
          </a:xfrm>
          <a:prstGeom prst="rect">
            <a:avLst/>
          </a:prstGeom>
          <a:solidFill>
            <a:srgbClr val="142644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2141220" y="5326888"/>
            <a:ext cx="296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Pharmacist updates price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120640" y="5276088"/>
            <a:ext cx="3200400" cy="301752"/>
          </a:xfrm>
          <a:prstGeom prst="rect">
            <a:avLst/>
          </a:prstGeom>
          <a:solidFill>
            <a:srgbClr val="142644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5158740" y="5326888"/>
            <a:ext cx="314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Search reflects new price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321040" y="5276088"/>
            <a:ext cx="2011680" cy="301752"/>
          </a:xfrm>
          <a:prstGeom prst="rect">
            <a:avLst/>
          </a:prstGeom>
          <a:solidFill>
            <a:srgbClr val="142644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8359140" y="5326888"/>
            <a:ext cx="1960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Updated price shown instantly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0332720" y="5276088"/>
            <a:ext cx="1005840" cy="301752"/>
          </a:xfrm>
          <a:prstGeom prst="rect">
            <a:avLst/>
          </a:prstGeom>
          <a:solidFill>
            <a:srgbClr val="142644"/>
          </a:solidFill>
          <a:ln w="6350">
            <a:solidFill>
              <a:srgbClr val="25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10370820" y="5326888"/>
            <a:ext cx="95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PASS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2194560" cy="292608"/>
          </a:xfrm>
          <a:prstGeom prst="rect">
            <a:avLst/>
          </a:prstGeom>
          <a:solidFill>
            <a:srgbClr val="173A7A"/>
          </a:solidFill>
          <a:ln w="1270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899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3C5FD"/>
                </a:solidFill>
                <a:latin typeface="Calibri"/>
              </a:rPr>
              <a:t>📈 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Results &amp; Outputs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914400" cy="50800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1115568"/>
            <a:ext cx="27432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A5FA"/>
                </a:solidFill>
                <a:latin typeface="Calibri"/>
              </a:rPr>
              <a:t>🏥  MediFind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6080"/>
                </a:solidFill>
                <a:latin typeface="Calibri"/>
              </a:rPr>
              <a:t>13 / 16</a:t>
            </a:r>
          </a:p>
        </p:txBody>
      </p:sp>
      <p:pic>
        <p:nvPicPr>
          <p:cNvPr id="10" name="Picture 9" descr="Find Medicine 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4114800" cy="2560320"/>
          </a:xfrm>
          <a:prstGeom prst="rect">
            <a:avLst/>
          </a:prstGeom>
        </p:spPr>
      </p:pic>
      <p:pic>
        <p:nvPicPr>
          <p:cNvPr id="11" name="Picture 10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280160"/>
            <a:ext cx="4114800" cy="2560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4320" y="3913632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0C4DE"/>
                </a:solidFill>
                <a:latin typeface="Calibri"/>
              </a:rPr>
              <a:t>Left: Medicine search sorted by proximity   ·   Right: Real-time pharmacy inventory dashboard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315968"/>
            <a:ext cx="8412480" cy="1874519"/>
          </a:xfrm>
          <a:prstGeom prst="rect">
            <a:avLst/>
          </a:prstGeom>
          <a:solidFill>
            <a:srgbClr val="14243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444398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✅  Objectives Achieved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764024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GPS proximity search working across all 6 Malappuram towns using Haversine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091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Medicine reservation creates pending orders with prescription attachments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25780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Real-time stock sync via Supabase replication — updates visible under 1 second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0468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Automatic stock decrement trigger fires correctly on every Collected status change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23960" y="1280160"/>
            <a:ext cx="3063240" cy="914400"/>
          </a:xfrm>
          <a:prstGeom prst="rect">
            <a:avLst/>
          </a:prstGeom>
          <a:solidFill>
            <a:srgbClr val="14243C"/>
          </a:solidFill>
          <a:ln w="1270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23960" y="1335024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D7FF9"/>
                </a:solidFill>
                <a:latin typeface="Calibri"/>
              </a:rPr>
              <a:t>10/10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181051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  <a:latin typeface="Calibri"/>
              </a:rPr>
              <a:t>Test Cases Passed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23960" y="2304288"/>
            <a:ext cx="3063240" cy="914400"/>
          </a:xfrm>
          <a:prstGeom prst="rect">
            <a:avLst/>
          </a:prstGeom>
          <a:solidFill>
            <a:srgbClr val="14243C"/>
          </a:solidFill>
          <a:ln w="1270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23960" y="2359152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D7FF9"/>
                </a:solidFill>
                <a:latin typeface="Calibri"/>
              </a:rPr>
              <a:t>&lt;200ms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283464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  <a:latin typeface="Calibri"/>
              </a:rPr>
              <a:t>Search Response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23960" y="3328416"/>
            <a:ext cx="3063240" cy="914400"/>
          </a:xfrm>
          <a:prstGeom prst="rect">
            <a:avLst/>
          </a:prstGeom>
          <a:solidFill>
            <a:srgbClr val="14243C"/>
          </a:solidFill>
          <a:ln w="1270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23960" y="338328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D7FF9"/>
                </a:solidFill>
                <a:latin typeface="Calibri"/>
              </a:rPr>
              <a:t>&lt;1s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385876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  <a:latin typeface="Calibri"/>
              </a:rPr>
              <a:t>Realtime Sync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23960" y="4352544"/>
            <a:ext cx="3063240" cy="914400"/>
          </a:xfrm>
          <a:prstGeom prst="rect">
            <a:avLst/>
          </a:prstGeom>
          <a:solidFill>
            <a:srgbClr val="14243C"/>
          </a:solidFill>
          <a:ln w="1270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823960" y="4407408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D7FF9"/>
                </a:solidFill>
                <a:latin typeface="Calibri"/>
              </a:rPr>
              <a:t>99.9%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60" y="4882896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  <a:latin typeface="Calibri"/>
              </a:rPr>
              <a:t>Uptime SLA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23960" y="5376672"/>
            <a:ext cx="3063240" cy="914400"/>
          </a:xfrm>
          <a:prstGeom prst="rect">
            <a:avLst/>
          </a:prstGeom>
          <a:solidFill>
            <a:srgbClr val="14243C"/>
          </a:solidFill>
          <a:ln w="1270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823960" y="5431536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D7FF9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5907024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  <a:latin typeface="Calibri"/>
              </a:rPr>
              <a:t>Sprints Done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2194560" cy="292608"/>
          </a:xfrm>
          <a:prstGeom prst="rect">
            <a:avLst/>
          </a:prstGeom>
          <a:solidFill>
            <a:srgbClr val="173A7A"/>
          </a:solidFill>
          <a:ln w="1270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899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3C5FD"/>
                </a:solidFill>
                <a:latin typeface="Calibri"/>
              </a:rPr>
              <a:t>✨  Advantages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Advantages &amp; Applications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914400" cy="50800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1115568"/>
            <a:ext cx="27432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A5FA"/>
                </a:solidFill>
                <a:latin typeface="Calibri"/>
              </a:rPr>
              <a:t>🏥  MediFind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6080"/>
                </a:solidFill>
                <a:latin typeface="Calibri"/>
              </a:rPr>
              <a:t>14 /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80160"/>
            <a:ext cx="5669280" cy="4937760"/>
          </a:xfrm>
          <a:prstGeom prst="rect">
            <a:avLst/>
          </a:prstGeom>
          <a:solidFill>
            <a:srgbClr val="14243C"/>
          </a:solidFill>
          <a:ln w="1524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140817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7FF9"/>
                </a:solidFill>
                <a:latin typeface="Calibri"/>
              </a:rPr>
              <a:t>🌟  Key Advantages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72821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Emergency-Ready: Reduces medicine search from hours to under 30 seconds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97510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Zero Commissions: Free for local pharmacies — no listing fee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2219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Regulatory Compliance: Prescription verification before dispensing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4688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Live Accuracy: Real-time inventory prevents wasted trips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7157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Haversine Precision: Accurate distance calc without Maps API billing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96265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Scalable Architecture: Cloud-native Supabase scales on demand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20954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Mobile-First: Works on any smartphone browser without app install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4564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Trigger Automation: Stock decrements automatically — zero manual errors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280160"/>
            <a:ext cx="5760720" cy="1097280"/>
          </a:xfrm>
          <a:prstGeom prst="rect">
            <a:avLst/>
          </a:prstGeom>
          <a:solidFill>
            <a:srgbClr val="14243C"/>
          </a:solidFill>
          <a:ln w="1270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63640" y="1371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7FF9"/>
                </a:solidFill>
                <a:latin typeface="Calibri"/>
              </a:rPr>
              <a:t>🏥  Hospital Towns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166420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Perinthalmanna — hospital city where specialized prescriptions are frequent and urgent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2487168"/>
            <a:ext cx="5760720" cy="1097280"/>
          </a:xfrm>
          <a:prstGeom prst="rect">
            <a:avLst/>
          </a:prstGeom>
          <a:solidFill>
            <a:srgbClr val="14243C"/>
          </a:solidFill>
          <a:ln w="1270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63640" y="25786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7FF9"/>
                </a:solidFill>
                <a:latin typeface="Calibri"/>
              </a:rPr>
              <a:t>🚨  Emergency Situations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Night-time emergencies where calling individual pharmacies is impractical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3694176"/>
            <a:ext cx="5760720" cy="1097280"/>
          </a:xfrm>
          <a:prstGeom prst="rect">
            <a:avLst/>
          </a:prstGeom>
          <a:solidFill>
            <a:srgbClr val="14243C"/>
          </a:solidFill>
          <a:ln w="1270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63640" y="37856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7FF9"/>
                </a:solidFill>
                <a:latin typeface="Calibri"/>
              </a:rPr>
              <a:t>👴  Senior Citizens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078224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Elderly patients who cannot travel easily to search multiple pharmacies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4901184"/>
            <a:ext cx="5760720" cy="1097280"/>
          </a:xfrm>
          <a:prstGeom prst="rect">
            <a:avLst/>
          </a:prstGeom>
          <a:solidFill>
            <a:srgbClr val="14243C"/>
          </a:solidFill>
          <a:ln w="1270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63640" y="499262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7FF9"/>
                </a:solidFill>
                <a:latin typeface="Calibri"/>
              </a:rPr>
              <a:t>💊  Rare Medicine Search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5285232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Niche pediatric syrups, nebulizer solutions, surgical supplies at select pharmacies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2194560" cy="292608"/>
          </a:xfrm>
          <a:prstGeom prst="rect">
            <a:avLst/>
          </a:prstGeom>
          <a:solidFill>
            <a:srgbClr val="173A7A"/>
          </a:solidFill>
          <a:ln w="1270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899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3C5FD"/>
                </a:solidFill>
                <a:latin typeface="Calibri"/>
              </a:rPr>
              <a:t>🔮 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Limitations &amp; Future Enhancements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914400" cy="50800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1115568"/>
            <a:ext cx="27432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A5FA"/>
                </a:solidFill>
                <a:latin typeface="Calibri"/>
              </a:rPr>
              <a:t>🏥  MediFind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6080"/>
                </a:solidFill>
                <a:latin typeface="Calibri"/>
              </a:rPr>
              <a:t>15 /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80160"/>
            <a:ext cx="5669280" cy="4937760"/>
          </a:xfrm>
          <a:prstGeom prst="rect">
            <a:avLst/>
          </a:prstGeom>
          <a:solidFill>
            <a:srgbClr val="14243C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140817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⚠️  Current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72821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No Home Delivery: Counter-pickup only, no courier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97510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No Online Payment: Razorpay/UPI not yet implemented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2219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Admin Dashboard Incomplete: UI in backlog for 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4688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Manual Pharmacy Onboarding: No automated licensing 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7157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GPS Accuracy Dependency: Browser GPS inaccurate indoors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96265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No Push Notifications: Patients check dashboard manually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20954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Geographic Scope: Currently Malappuram district only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280160"/>
            <a:ext cx="457200" cy="868680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0" y="138176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73952" y="1280160"/>
            <a:ext cx="5394960" cy="868680"/>
          </a:xfrm>
          <a:prstGeom prst="rect">
            <a:avLst/>
          </a:prstGeom>
          <a:solidFill>
            <a:srgbClr val="1424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13309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AI Medicine Recommendations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6002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  <a:latin typeface="Calibri"/>
              </a:rPr>
              <a:t>NLP model to suggest verified generic substitutes when branded medicines are out of stock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2267712"/>
            <a:ext cx="457200" cy="868680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0" y="2369312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3952" y="2267712"/>
            <a:ext cx="5394960" cy="868680"/>
          </a:xfrm>
          <a:prstGeom prst="rect">
            <a:avLst/>
          </a:prstGeom>
          <a:solidFill>
            <a:srgbClr val="1424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231851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Integrated Digital Payments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58775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  <a:latin typeface="Calibri"/>
              </a:rPr>
              <a:t>Razorpay/UPI advance payment before counter pickup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3255264"/>
            <a:ext cx="457200" cy="868680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0" y="3356864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73952" y="3255264"/>
            <a:ext cx="5394960" cy="868680"/>
          </a:xfrm>
          <a:prstGeom prst="rect">
            <a:avLst/>
          </a:prstGeom>
          <a:solidFill>
            <a:srgbClr val="1424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0" y="330606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Hyperlocal Home Delivery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357530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  <a:latin typeface="Calibri"/>
              </a:rPr>
              <a:t>Partnership with local couriers for 30-minute emergency delivery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4242816"/>
            <a:ext cx="457200" cy="868680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43600" y="4344416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73952" y="4242816"/>
            <a:ext cx="5394960" cy="868680"/>
          </a:xfrm>
          <a:prstGeom prst="rect">
            <a:avLst/>
          </a:prstGeom>
          <a:solidFill>
            <a:srgbClr val="1424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83680" y="429361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WhatsApp / SMS Notifications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56285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  <a:latin typeface="Calibri"/>
              </a:rPr>
              <a:t>Automatic alerts when prescription is verified and medicine is ready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5230368"/>
            <a:ext cx="457200" cy="868680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43600" y="5331968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73952" y="5230368"/>
            <a:ext cx="5394960" cy="868680"/>
          </a:xfrm>
          <a:prstGeom prst="rect">
            <a:avLst/>
          </a:prstGeom>
          <a:solidFill>
            <a:srgbClr val="1424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83680" y="52811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Mobile App (React Native)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55040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  <a:latin typeface="Calibri"/>
              </a:rPr>
              <a:t>Native iOS/Android app with background push notifications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1920240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64592"/>
            <a:ext cx="2194560" cy="292608"/>
          </a:xfrm>
          <a:prstGeom prst="rect">
            <a:avLst/>
          </a:prstGeom>
          <a:solidFill>
            <a:srgbClr val="173A7A"/>
          </a:solidFill>
          <a:ln w="1270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899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3C5FD"/>
                </a:solidFill>
                <a:latin typeface="Calibri"/>
              </a:rPr>
              <a:t>🎓 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MediFind — Mission Accomplished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0C4DE"/>
                </a:solidFill>
                <a:latin typeface="Calibri"/>
              </a:rPr>
              <a:t>A complete full-stack hyperlocal medicine availability finder built, tested and deployed using Next.js 14, Supabase PostgreSQL, and the Haversine geospatial algorithm.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2651760" cy="822960"/>
          </a:xfrm>
          <a:prstGeom prst="rect">
            <a:avLst/>
          </a:prstGeom>
          <a:solidFill>
            <a:srgbClr val="14243C"/>
          </a:solidFill>
          <a:ln w="1905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029968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D7FF9"/>
                </a:solidFill>
                <a:latin typeface="Calibri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8716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  <a:latin typeface="Calibri"/>
              </a:rPr>
              <a:t>Core Modules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2011680"/>
            <a:ext cx="2651760" cy="822960"/>
          </a:xfrm>
          <a:prstGeom prst="rect">
            <a:avLst/>
          </a:prstGeom>
          <a:solidFill>
            <a:srgbClr val="14243C"/>
          </a:solidFill>
          <a:ln w="1905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29000" y="2029968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D7FF9"/>
                </a:solidFill>
                <a:latin typeface="Calibri"/>
              </a:rPr>
              <a:t>10/10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48716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  <a:latin typeface="Calibri"/>
              </a:rPr>
              <a:t>Tests Passed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011680"/>
            <a:ext cx="2651760" cy="822960"/>
          </a:xfrm>
          <a:prstGeom prst="rect">
            <a:avLst/>
          </a:prstGeom>
          <a:solidFill>
            <a:srgbClr val="14243C"/>
          </a:solidFill>
          <a:ln w="1905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2029968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D7FF9"/>
                </a:solidFill>
                <a:latin typeface="Calibri"/>
              </a:rPr>
              <a:t>14 Wks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48716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  <a:latin typeface="Calibri"/>
              </a:rPr>
              <a:t>Agile Dev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2011680"/>
            <a:ext cx="2651760" cy="822960"/>
          </a:xfrm>
          <a:prstGeom prst="rect">
            <a:avLst/>
          </a:prstGeom>
          <a:solidFill>
            <a:srgbClr val="14243C"/>
          </a:solidFill>
          <a:ln w="1905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89720" y="2029968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D7FF9"/>
                </a:solidFill>
                <a:latin typeface="Calibri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48716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  <a:latin typeface="Calibri"/>
              </a:rPr>
              <a:t>Infrastructure Cost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971800"/>
            <a:ext cx="11247120" cy="2468880"/>
          </a:xfrm>
          <a:prstGeom prst="rect">
            <a:avLst/>
          </a:prstGeom>
          <a:solidFill>
            <a:srgbClr val="14243C"/>
          </a:solidFill>
          <a:ln w="15240">
            <a:solidFill>
              <a:srgbClr val="2D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3099816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7FF9"/>
                </a:solidFill>
                <a:latin typeface="Calibri"/>
              </a:rPr>
              <a:t>Summary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419856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Problem Solved: Emergency medicine search reduced from hours to under 30 seconds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666744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Technology: Next.js 14 + Supabase PostgreSQL + Haversine Algorithm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913632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Impact: Empowers local Malappuram pharmacies with free digital inventory 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160520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Compliance: Fully aligned with KTU 20MCA245 Mini Project requirements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0740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  •  Testing: 10/10 test cases passed — 100% success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577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  <a:latin typeface="Calibri"/>
              </a:rPr>
              <a:t>AFNAN ASHRAF K   ·   KITM25MCA-2004   ·   Department of Computer Applications
KMCT Institute of Technology and Management, Kuttippuram   ·   October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A5FA"/>
                </a:solidFill>
                <a:latin typeface="Calibri"/>
              </a:rPr>
              <a:t>🏥  MediFind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6080"/>
                </a:solidFill>
                <a:latin typeface="Calibri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2495</Words>
  <Application>Microsoft Office PowerPoint</Application>
  <PresentationFormat>Widescreen</PresentationFormat>
  <Paragraphs>467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afnak7344629@outlook.com</cp:lastModifiedBy>
  <cp:revision>2</cp:revision>
  <dcterms:created xsi:type="dcterms:W3CDTF">2013-01-27T09:14:16Z</dcterms:created>
  <dcterms:modified xsi:type="dcterms:W3CDTF">2026-10-28T19:14:40Z</dcterms:modified>
  <cp:category/>
</cp:coreProperties>
</file>